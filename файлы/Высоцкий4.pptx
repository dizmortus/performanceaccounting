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7" r:id="rId2"/>
    <p:sldId id="266" r:id="rId3"/>
    <p:sldId id="259" r:id="rId4"/>
    <p:sldId id="260" r:id="rId5"/>
    <p:sldId id="268" r:id="rId6"/>
    <p:sldId id="261" r:id="rId7"/>
    <p:sldId id="262" r:id="rId8"/>
    <p:sldId id="263" r:id="rId9"/>
    <p:sldId id="265" r:id="rId10"/>
    <p:sldId id="267" r:id="rId11"/>
    <p:sldId id="264" r:id="rId12"/>
  </p:sldIdLst>
  <p:sldSz cx="14630400" cy="8229600"/>
  <p:notesSz cx="8229600" cy="14630400"/>
  <p:embeddedFontLst>
    <p:embeddedFont>
      <p:font typeface="Barlow Bold" panose="020B0604020202020204" charset="0"/>
      <p:bold r:id="rId15"/>
    </p:embeddedFont>
    <p:embeddedFont>
      <p:font typeface="Montserrat" panose="00000500000000000000" pitchFamily="2" charset="-52"/>
      <p:regular r:id="rId16"/>
      <p:bold r:id="rId17"/>
      <p:italic r:id="rId18"/>
      <p:boldItalic r:id="rId19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4E9F7"/>
    <a:srgbClr val="C0D4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DBED569-4797-4DF1-A0F4-6AAB3CD982D8}" styleName="Светлый стиль 3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42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CC0721B5-A21B-5FA5-6B99-0E02FCEC757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E7538D3-9C3C-BE40-5E12-11CE8F85233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660900" y="0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D8EA51-91C7-4E71-9BBE-1308E0D83792}" type="datetimeFigureOut">
              <a:rPr lang="ru-RU" smtClean="0"/>
              <a:t>25.05.2025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5AC34A0-EE3A-D61F-F1B3-E27147713DC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3896975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2CD7D82-DDB0-91EB-1DC5-CFB12C555F1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660900" y="13896975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E8F592-CDE7-4DE7-9EA3-E9EB83A4CB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109054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08162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F267E-A222-A789-85D4-C87C5B951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6CEBD9-E5D4-38D7-3D39-EED8090E82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DE1993-9EFE-C342-18CA-F9E6FF3ADE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1F3753-55B6-D30A-B263-F271F7ECAC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7740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C47D3-10D2-1E70-B926-B285F00D5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4161DE-317E-92F1-B249-91D85DF634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4F5E72-3C56-43DF-B453-AC23587410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A42015-761C-9A86-7EA0-83A1B5993D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7486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6FA814-0DE1-A0E5-54D5-8E91EB768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8523F5-9349-440F-59DB-DF90642DAE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9F0B4D-3A5E-8C03-5B78-A19A2AD53A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97C91D-F84A-E9C6-6E6D-1987C6562F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0924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6" Type="http://schemas.microsoft.com/office/2007/relationships/hdphoto" Target="../media/hdphoto2.wdp"/><Relationship Id="rId5" Type="http://schemas.openxmlformats.org/officeDocument/2006/relationships/image" Target="../media/image32.png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hdphoto" Target="../media/hdphoto5.wdp"/><Relationship Id="rId3" Type="http://schemas.openxmlformats.org/officeDocument/2006/relationships/image" Target="../media/image33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microsoft.com/office/2007/relationships/hdphoto" Target="../media/hdphoto4.wdp"/><Relationship Id="rId5" Type="http://schemas.openxmlformats.org/officeDocument/2006/relationships/image" Target="../media/image34.png"/><Relationship Id="rId4" Type="http://schemas.microsoft.com/office/2007/relationships/hdphoto" Target="../media/hdphoto3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1764268"/>
            <a:ext cx="7627382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Проблемы традиционных методов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58309" y="3514606"/>
            <a:ext cx="487442" cy="487442"/>
          </a:xfrm>
          <a:prstGeom prst="roundRect">
            <a:avLst>
              <a:gd name="adj" fmla="val 6667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997" y="3544550"/>
            <a:ext cx="342067" cy="42755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462326" y="3589020"/>
            <a:ext cx="2974300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Временные затраты</a:t>
            </a:r>
            <a:endParaRPr lang="en-US" sz="3200" dirty="0"/>
          </a:p>
        </p:txBody>
      </p:sp>
      <p:sp>
        <p:nvSpPr>
          <p:cNvPr id="7" name="Text 3"/>
          <p:cNvSpPr/>
          <p:nvPr/>
        </p:nvSpPr>
        <p:spPr>
          <a:xfrm>
            <a:off x="1462326" y="4431387"/>
            <a:ext cx="2974300" cy="1024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Ручная обработка требует много времени</a:t>
            </a:r>
            <a:endParaRPr lang="en-US" sz="2400" dirty="0"/>
          </a:p>
        </p:txBody>
      </p:sp>
      <p:sp>
        <p:nvSpPr>
          <p:cNvPr id="8" name="Shape 4"/>
          <p:cNvSpPr/>
          <p:nvPr/>
        </p:nvSpPr>
        <p:spPr>
          <a:xfrm>
            <a:off x="4707374" y="3514606"/>
            <a:ext cx="487442" cy="487442"/>
          </a:xfrm>
          <a:prstGeom prst="roundRect">
            <a:avLst>
              <a:gd name="adj" fmla="val 6667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0062" y="3544550"/>
            <a:ext cx="342067" cy="42755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411391" y="3589020"/>
            <a:ext cx="2974300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Вероятность ошибок</a:t>
            </a:r>
            <a:endParaRPr lang="en-US" sz="3200" dirty="0"/>
          </a:p>
        </p:txBody>
      </p:sp>
      <p:sp>
        <p:nvSpPr>
          <p:cNvPr id="11" name="Text 6"/>
          <p:cNvSpPr/>
          <p:nvPr/>
        </p:nvSpPr>
        <p:spPr>
          <a:xfrm>
            <a:off x="5411391" y="4431387"/>
            <a:ext cx="2974300" cy="1024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Человеческий фактор снижает точность</a:t>
            </a:r>
            <a:endParaRPr lang="en-US" sz="2400" dirty="0"/>
          </a:p>
        </p:txBody>
      </p:sp>
      <p:sp>
        <p:nvSpPr>
          <p:cNvPr id="12" name="Shape 7"/>
          <p:cNvSpPr/>
          <p:nvPr/>
        </p:nvSpPr>
        <p:spPr>
          <a:xfrm>
            <a:off x="758309" y="6118622"/>
            <a:ext cx="487442" cy="487442"/>
          </a:xfrm>
          <a:prstGeom prst="roundRect">
            <a:avLst>
              <a:gd name="adj" fmla="val 6667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997" y="6148566"/>
            <a:ext cx="342067" cy="42755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462326" y="6193036"/>
            <a:ext cx="2944892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Сложность анализа</a:t>
            </a:r>
            <a:endParaRPr lang="en-US" sz="3200" dirty="0"/>
          </a:p>
        </p:txBody>
      </p:sp>
      <p:sp>
        <p:nvSpPr>
          <p:cNvPr id="15" name="Text 9"/>
          <p:cNvSpPr/>
          <p:nvPr/>
        </p:nvSpPr>
        <p:spPr>
          <a:xfrm>
            <a:off x="1462326" y="6679168"/>
            <a:ext cx="692336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Затруднен сбор статистических данных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DAC92-C8C3-95F5-A884-FEC0CC018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0672D2E-C69C-DB91-69FC-0E155B10FE0D}"/>
              </a:ext>
            </a:extLst>
          </p:cNvPr>
          <p:cNvSpPr/>
          <p:nvPr/>
        </p:nvSpPr>
        <p:spPr>
          <a:xfrm>
            <a:off x="791051" y="542831"/>
            <a:ext cx="7659767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 err="1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Цел</a:t>
            </a:r>
            <a:r>
              <a:rPr lang="ru-RU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ь</a:t>
            </a: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и </a:t>
            </a:r>
            <a:r>
              <a:rPr lang="ru-RU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задачи</a:t>
            </a: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</a:t>
            </a:r>
            <a:r>
              <a:rPr lang="ru-RU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разработки</a:t>
            </a:r>
            <a:endParaRPr lang="en-US" sz="4450" dirty="0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7106849F-4AA3-D45F-9E4B-A699ED024F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9760" y="3470374"/>
            <a:ext cx="1161956" cy="906462"/>
          </a:xfrm>
          <a:prstGeom prst="rect">
            <a:avLst/>
          </a:prstGeom>
        </p:spPr>
      </p:pic>
      <p:pic>
        <p:nvPicPr>
          <p:cNvPr id="4" name="Image 1" descr="preencoded.png">
            <a:extLst>
              <a:ext uri="{FF2B5EF4-FFF2-40B4-BE49-F238E27FC236}">
                <a16:creationId xmlns:a16="http://schemas.microsoft.com/office/drawing/2014/main" id="{475BF7AF-A458-7F9F-347E-92CF1250A3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1601" y="3944631"/>
            <a:ext cx="218156" cy="272630"/>
          </a:xfrm>
          <a:prstGeom prst="rect">
            <a:avLst/>
          </a:prstGeom>
        </p:spPr>
      </p:pic>
      <p:sp>
        <p:nvSpPr>
          <p:cNvPr id="6" name="Text 2">
            <a:extLst>
              <a:ext uri="{FF2B5EF4-FFF2-40B4-BE49-F238E27FC236}">
                <a16:creationId xmlns:a16="http://schemas.microsoft.com/office/drawing/2014/main" id="{7315A8A6-71B7-C9D8-0A7F-8F0A05B0D8BF}"/>
              </a:ext>
            </a:extLst>
          </p:cNvPr>
          <p:cNvSpPr/>
          <p:nvPr/>
        </p:nvSpPr>
        <p:spPr>
          <a:xfrm>
            <a:off x="4031073" y="3730168"/>
            <a:ext cx="9875846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Реализация расчета статистики по группам</a:t>
            </a:r>
            <a:endParaRPr lang="en-US" sz="2400" dirty="0"/>
          </a:p>
        </p:txBody>
      </p:sp>
      <p:pic>
        <p:nvPicPr>
          <p:cNvPr id="8" name="Image 2" descr="preencoded.png">
            <a:extLst>
              <a:ext uri="{FF2B5EF4-FFF2-40B4-BE49-F238E27FC236}">
                <a16:creationId xmlns:a16="http://schemas.microsoft.com/office/drawing/2014/main" id="{86A36499-EC6B-C659-0954-AC90E1E684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8782" y="4397375"/>
            <a:ext cx="2323912" cy="906462"/>
          </a:xfrm>
          <a:prstGeom prst="rect">
            <a:avLst/>
          </a:prstGeom>
        </p:spPr>
      </p:pic>
      <p:pic>
        <p:nvPicPr>
          <p:cNvPr id="9" name="Image 3" descr="preencoded.png">
            <a:extLst>
              <a:ext uri="{FF2B5EF4-FFF2-40B4-BE49-F238E27FC236}">
                <a16:creationId xmlns:a16="http://schemas.microsoft.com/office/drawing/2014/main" id="{0DACD523-7497-C0F7-17ED-DD71616885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31601" y="4714231"/>
            <a:ext cx="218156" cy="272630"/>
          </a:xfrm>
          <a:prstGeom prst="rect">
            <a:avLst/>
          </a:prstGeom>
        </p:spPr>
      </p:pic>
      <p:sp>
        <p:nvSpPr>
          <p:cNvPr id="11" name="Text 5">
            <a:extLst>
              <a:ext uri="{FF2B5EF4-FFF2-40B4-BE49-F238E27FC236}">
                <a16:creationId xmlns:a16="http://schemas.microsoft.com/office/drawing/2014/main" id="{C74CC5FE-A116-1AB1-C099-43FDB0E74EAC}"/>
              </a:ext>
            </a:extLst>
          </p:cNvPr>
          <p:cNvSpPr/>
          <p:nvPr/>
        </p:nvSpPr>
        <p:spPr>
          <a:xfrm>
            <a:off x="4620934" y="4640151"/>
            <a:ext cx="9205598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Автоматизация электронной рассылки ведомостей</a:t>
            </a:r>
            <a:endParaRPr lang="en-US" sz="2400" dirty="0"/>
          </a:p>
        </p:txBody>
      </p:sp>
      <p:pic>
        <p:nvPicPr>
          <p:cNvPr id="13" name="Image 4" descr="preencoded.png">
            <a:extLst>
              <a:ext uri="{FF2B5EF4-FFF2-40B4-BE49-F238E27FC236}">
                <a16:creationId xmlns:a16="http://schemas.microsoft.com/office/drawing/2014/main" id="{9D379058-5590-A34A-3966-D9BD374410A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97804" y="5324376"/>
            <a:ext cx="3485868" cy="906462"/>
          </a:xfrm>
          <a:prstGeom prst="rect">
            <a:avLst/>
          </a:prstGeom>
        </p:spPr>
      </p:pic>
      <p:pic>
        <p:nvPicPr>
          <p:cNvPr id="14" name="Image 5" descr="preencoded.png">
            <a:extLst>
              <a:ext uri="{FF2B5EF4-FFF2-40B4-BE49-F238E27FC236}">
                <a16:creationId xmlns:a16="http://schemas.microsoft.com/office/drawing/2014/main" id="{A6A6A96A-A53C-B247-2FC4-D5303FD3D65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31601" y="5641232"/>
            <a:ext cx="218156" cy="272630"/>
          </a:xfrm>
          <a:prstGeom prst="rect">
            <a:avLst/>
          </a:prstGeom>
        </p:spPr>
      </p:pic>
      <p:sp>
        <p:nvSpPr>
          <p:cNvPr id="16" name="Text 8">
            <a:extLst>
              <a:ext uri="{FF2B5EF4-FFF2-40B4-BE49-F238E27FC236}">
                <a16:creationId xmlns:a16="http://schemas.microsoft.com/office/drawing/2014/main" id="{C786ED22-5B53-8514-8884-0D808D85D533}"/>
              </a:ext>
            </a:extLst>
          </p:cNvPr>
          <p:cNvSpPr/>
          <p:nvPr/>
        </p:nvSpPr>
        <p:spPr>
          <a:xfrm>
            <a:off x="5263155" y="5578602"/>
            <a:ext cx="847294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Автоматизация заполнения документации</a:t>
            </a:r>
            <a:endParaRPr lang="en-US" sz="2400" dirty="0"/>
          </a:p>
        </p:txBody>
      </p:sp>
      <p:pic>
        <p:nvPicPr>
          <p:cNvPr id="18" name="Image 6" descr="preencoded.png">
            <a:extLst>
              <a:ext uri="{FF2B5EF4-FFF2-40B4-BE49-F238E27FC236}">
                <a16:creationId xmlns:a16="http://schemas.microsoft.com/office/drawing/2014/main" id="{37F8B348-1D0B-CC91-F24F-DCDC88B17DB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6826" y="6251377"/>
            <a:ext cx="4647824" cy="906462"/>
          </a:xfrm>
          <a:prstGeom prst="rect">
            <a:avLst/>
          </a:prstGeom>
        </p:spPr>
      </p:pic>
      <p:pic>
        <p:nvPicPr>
          <p:cNvPr id="19" name="Image 7" descr="preencoded.png">
            <a:extLst>
              <a:ext uri="{FF2B5EF4-FFF2-40B4-BE49-F238E27FC236}">
                <a16:creationId xmlns:a16="http://schemas.microsoft.com/office/drawing/2014/main" id="{B763EC26-8FF0-3877-FD9F-E61F6EBE917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31601" y="6568233"/>
            <a:ext cx="218156" cy="272630"/>
          </a:xfrm>
          <a:prstGeom prst="rect">
            <a:avLst/>
          </a:prstGeom>
        </p:spPr>
      </p:pic>
      <p:sp>
        <p:nvSpPr>
          <p:cNvPr id="21" name="Text 11">
            <a:extLst>
              <a:ext uri="{FF2B5EF4-FFF2-40B4-BE49-F238E27FC236}">
                <a16:creationId xmlns:a16="http://schemas.microsoft.com/office/drawing/2014/main" id="{EAB02D77-23EF-8ECB-A585-FE8BAF9CE73C}"/>
              </a:ext>
            </a:extLst>
          </p:cNvPr>
          <p:cNvSpPr/>
          <p:nvPr/>
        </p:nvSpPr>
        <p:spPr>
          <a:xfrm>
            <a:off x="5836298" y="6494153"/>
            <a:ext cx="859313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Создание удобного средства учета успеваемости</a:t>
            </a:r>
            <a:endParaRPr lang="en-US" sz="2400" dirty="0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9D2DA552-59C7-E8DA-7E63-CC4B992E991C}"/>
              </a:ext>
            </a:extLst>
          </p:cNvPr>
          <p:cNvSpPr/>
          <p:nvPr/>
        </p:nvSpPr>
        <p:spPr>
          <a:xfrm>
            <a:off x="12601575" y="7591425"/>
            <a:ext cx="1933575" cy="5314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Text 2">
            <a:extLst>
              <a:ext uri="{FF2B5EF4-FFF2-40B4-BE49-F238E27FC236}">
                <a16:creationId xmlns:a16="http://schemas.microsoft.com/office/drawing/2014/main" id="{4CBB72C5-31A4-E213-7C55-5DFB20030318}"/>
              </a:ext>
            </a:extLst>
          </p:cNvPr>
          <p:cNvSpPr/>
          <p:nvPr/>
        </p:nvSpPr>
        <p:spPr>
          <a:xfrm>
            <a:off x="791051" y="1472225"/>
            <a:ext cx="11608615" cy="7803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ru-RU" sz="24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Цель: </a:t>
            </a:r>
            <a:r>
              <a:rPr lang="ru-RU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разработка и реализация программного средства автоматизации </a:t>
            </a:r>
          </a:p>
          <a:p>
            <a:pPr marL="0" indent="0" algn="l">
              <a:lnSpc>
                <a:spcPts val="27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процессов учета и анализа успеваемости студентов.</a:t>
            </a:r>
            <a:endParaRPr lang="en-US" sz="2400" dirty="0"/>
          </a:p>
        </p:txBody>
      </p:sp>
      <p:sp>
        <p:nvSpPr>
          <p:cNvPr id="26" name="Text 1">
            <a:extLst>
              <a:ext uri="{FF2B5EF4-FFF2-40B4-BE49-F238E27FC236}">
                <a16:creationId xmlns:a16="http://schemas.microsoft.com/office/drawing/2014/main" id="{CFAF1FA7-FA25-5012-2748-7A540794E56E}"/>
              </a:ext>
            </a:extLst>
          </p:cNvPr>
          <p:cNvSpPr/>
          <p:nvPr/>
        </p:nvSpPr>
        <p:spPr>
          <a:xfrm>
            <a:off x="791051" y="2781552"/>
            <a:ext cx="6913114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ru-RU" sz="2400" b="1" dirty="0">
                <a:solidFill>
                  <a:srgbClr val="384653"/>
                </a:solidFill>
                <a:latin typeface="Montserrat" pitchFamily="34" charset="0"/>
              </a:rPr>
              <a:t>Задачи</a:t>
            </a: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 разработки включают следующее: </a:t>
            </a:r>
            <a:endParaRPr lang="en-US" sz="2400" dirty="0">
              <a:solidFill>
                <a:srgbClr val="384653"/>
              </a:solidFill>
              <a:latin typeface="Montserra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85233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8" y="907852"/>
            <a:ext cx="7230131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ru-RU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Инструменты разработки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2303621" y="3272195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JavaScript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58309" y="3758327"/>
            <a:ext cx="4396026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Основной язык разработки</a:t>
            </a:r>
            <a:endParaRPr lang="en-US" sz="2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9256" y="2851904"/>
            <a:ext cx="3671768" cy="367176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794831" y="3167479"/>
            <a:ext cx="541615" cy="541615"/>
          </a:xfrm>
          <a:prstGeom prst="roundRect">
            <a:avLst>
              <a:gd name="adj" fmla="val 1686596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779" y="3285946"/>
            <a:ext cx="243721" cy="30468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475946" y="3272195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Node.js + Express</a:t>
            </a:r>
            <a:endParaRPr lang="en-US" sz="3200" dirty="0"/>
          </a:p>
        </p:txBody>
      </p:sp>
      <p:sp>
        <p:nvSpPr>
          <p:cNvPr id="9" name="Text 5"/>
          <p:cNvSpPr/>
          <p:nvPr/>
        </p:nvSpPr>
        <p:spPr>
          <a:xfrm>
            <a:off x="9475946" y="3758327"/>
            <a:ext cx="439614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Серверная часть приложения</a:t>
            </a:r>
            <a:endParaRPr lang="en-US" sz="24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79256" y="2851904"/>
            <a:ext cx="3671768" cy="3671768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8293715" y="3167479"/>
            <a:ext cx="541615" cy="541615"/>
          </a:xfrm>
          <a:prstGeom prst="roundRect">
            <a:avLst>
              <a:gd name="adj" fmla="val 1686596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2662" y="3285946"/>
            <a:ext cx="243721" cy="30468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475946" y="5270540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React + Next.js</a:t>
            </a:r>
            <a:endParaRPr lang="en-US" sz="3200" dirty="0"/>
          </a:p>
        </p:txBody>
      </p:sp>
      <p:sp>
        <p:nvSpPr>
          <p:cNvPr id="14" name="Text 8"/>
          <p:cNvSpPr/>
          <p:nvPr/>
        </p:nvSpPr>
        <p:spPr>
          <a:xfrm>
            <a:off x="9475946" y="5756672"/>
            <a:ext cx="439614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Клиентская часть с App Router</a:t>
            </a:r>
            <a:endParaRPr lang="en-US" sz="24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79256" y="2851904"/>
            <a:ext cx="3671768" cy="3671768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8293715" y="5666363"/>
            <a:ext cx="541615" cy="541615"/>
          </a:xfrm>
          <a:prstGeom prst="roundRect">
            <a:avLst>
              <a:gd name="adj" fmla="val 1686596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42662" y="5784830"/>
            <a:ext cx="243721" cy="304681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2182178" y="5270540"/>
            <a:ext cx="2972157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PostgreSQL + Sequelize</a:t>
            </a:r>
            <a:endParaRPr lang="en-US" sz="3200" dirty="0"/>
          </a:p>
        </p:txBody>
      </p:sp>
      <p:sp>
        <p:nvSpPr>
          <p:cNvPr id="19" name="Text 11"/>
          <p:cNvSpPr/>
          <p:nvPr/>
        </p:nvSpPr>
        <p:spPr>
          <a:xfrm>
            <a:off x="758309" y="5756672"/>
            <a:ext cx="4396026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Управление данными</a:t>
            </a:r>
            <a:endParaRPr lang="en-US" sz="2400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79256" y="2851904"/>
            <a:ext cx="3671768" cy="3671768"/>
          </a:xfrm>
          <a:prstGeom prst="rect">
            <a:avLst/>
          </a:prstGeom>
        </p:spPr>
      </p:pic>
      <p:sp>
        <p:nvSpPr>
          <p:cNvPr id="21" name="Shape 12"/>
          <p:cNvSpPr/>
          <p:nvPr/>
        </p:nvSpPr>
        <p:spPr>
          <a:xfrm>
            <a:off x="5794831" y="5666363"/>
            <a:ext cx="541615" cy="541615"/>
          </a:xfrm>
          <a:prstGeom prst="roundRect">
            <a:avLst>
              <a:gd name="adj" fmla="val 1686596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43779" y="5784830"/>
            <a:ext cx="243721" cy="304681"/>
          </a:xfrm>
          <a:prstGeom prst="rect">
            <a:avLst/>
          </a:prstGeom>
        </p:spPr>
      </p:pic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C6EA6DE3-0D72-A502-E805-01EA841106F1}"/>
              </a:ext>
            </a:extLst>
          </p:cNvPr>
          <p:cNvSpPr/>
          <p:nvPr/>
        </p:nvSpPr>
        <p:spPr>
          <a:xfrm>
            <a:off x="12601575" y="7591425"/>
            <a:ext cx="1933575" cy="5314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Text 2">
            <a:extLst>
              <a:ext uri="{FF2B5EF4-FFF2-40B4-BE49-F238E27FC236}">
                <a16:creationId xmlns:a16="http://schemas.microsoft.com/office/drawing/2014/main" id="{FD59BC5A-39DC-1461-6DCF-B830B4D6988F}"/>
              </a:ext>
            </a:extLst>
          </p:cNvPr>
          <p:cNvSpPr/>
          <p:nvPr/>
        </p:nvSpPr>
        <p:spPr>
          <a:xfrm>
            <a:off x="791051" y="1733040"/>
            <a:ext cx="11608615" cy="7803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Для реализации проекта были использованы следующие технологии: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4709" y="639723"/>
            <a:ext cx="7627382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Архитектура приложения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4709" y="2390061"/>
            <a:ext cx="1083231" cy="129992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652861" y="2606635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Клиентская часть</a:t>
            </a:r>
            <a:endParaRPr lang="en-US" sz="3200" dirty="0"/>
          </a:p>
        </p:txBody>
      </p:sp>
      <p:sp>
        <p:nvSpPr>
          <p:cNvPr id="6" name="Text 2"/>
          <p:cNvSpPr/>
          <p:nvPr/>
        </p:nvSpPr>
        <p:spPr>
          <a:xfrm>
            <a:off x="7652861" y="3092768"/>
            <a:ext cx="621923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React-компоненты на базе хуков</a:t>
            </a:r>
            <a:endParaRPr lang="en-US" sz="24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4709" y="3689985"/>
            <a:ext cx="1083231" cy="129992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652861" y="3906560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REST API</a:t>
            </a:r>
            <a:endParaRPr lang="en-US" sz="3200" dirty="0"/>
          </a:p>
        </p:txBody>
      </p:sp>
      <p:sp>
        <p:nvSpPr>
          <p:cNvPr id="9" name="Text 4"/>
          <p:cNvSpPr/>
          <p:nvPr/>
        </p:nvSpPr>
        <p:spPr>
          <a:xfrm>
            <a:off x="7652861" y="4392692"/>
            <a:ext cx="621923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Обмен данными в формате JSON</a:t>
            </a:r>
            <a:endParaRPr lang="en-US" sz="24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4709" y="4989909"/>
            <a:ext cx="1083231" cy="129992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652861" y="5206484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Серверная часть</a:t>
            </a:r>
            <a:endParaRPr lang="en-US" sz="3200" dirty="0"/>
          </a:p>
        </p:txBody>
      </p:sp>
      <p:sp>
        <p:nvSpPr>
          <p:cNvPr id="12" name="Text 6"/>
          <p:cNvSpPr/>
          <p:nvPr/>
        </p:nvSpPr>
        <p:spPr>
          <a:xfrm>
            <a:off x="7652861" y="5692616"/>
            <a:ext cx="621923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Обработка запросов и бизнес-логика</a:t>
            </a:r>
            <a:endParaRPr lang="en-US" sz="24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4709" y="6289834"/>
            <a:ext cx="1083231" cy="129992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652861" y="6506408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База данных</a:t>
            </a:r>
            <a:endParaRPr lang="en-US" sz="3200" dirty="0"/>
          </a:p>
        </p:txBody>
      </p:sp>
      <p:sp>
        <p:nvSpPr>
          <p:cNvPr id="15" name="Text 8"/>
          <p:cNvSpPr/>
          <p:nvPr/>
        </p:nvSpPr>
        <p:spPr>
          <a:xfrm>
            <a:off x="7652861" y="6992541"/>
            <a:ext cx="621923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Хранение информации о студентах</a:t>
            </a:r>
            <a:endParaRPr lang="en-US" sz="2400" dirty="0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072B1B8B-5991-DEEC-E2DA-A57074AC677C}"/>
              </a:ext>
            </a:extLst>
          </p:cNvPr>
          <p:cNvSpPr/>
          <p:nvPr/>
        </p:nvSpPr>
        <p:spPr>
          <a:xfrm>
            <a:off x="12601575" y="7591425"/>
            <a:ext cx="1933575" cy="5314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Text 2">
            <a:extLst>
              <a:ext uri="{FF2B5EF4-FFF2-40B4-BE49-F238E27FC236}">
                <a16:creationId xmlns:a16="http://schemas.microsoft.com/office/drawing/2014/main" id="{07FDB23E-9502-5D99-CE50-C0F76664C56A}"/>
              </a:ext>
            </a:extLst>
          </p:cNvPr>
          <p:cNvSpPr/>
          <p:nvPr/>
        </p:nvSpPr>
        <p:spPr>
          <a:xfrm>
            <a:off x="6244709" y="1339002"/>
            <a:ext cx="7789790" cy="7803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Клиент-серверная архитектура приложения</a:t>
            </a:r>
          </a:p>
          <a:p>
            <a:pPr marL="0" indent="0" algn="l">
              <a:lnSpc>
                <a:spcPts val="27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включает следующие составляющие: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5D2A4C11-2C4B-3D3F-83F0-382063841BC5}"/>
              </a:ext>
            </a:extLst>
          </p:cNvPr>
          <p:cNvSpPr/>
          <p:nvPr/>
        </p:nvSpPr>
        <p:spPr>
          <a:xfrm>
            <a:off x="427355" y="1617757"/>
            <a:ext cx="6934499" cy="4587685"/>
          </a:xfrm>
          <a:prstGeom prst="roundRect">
            <a:avLst/>
          </a:prstGeom>
          <a:solidFill>
            <a:srgbClr val="D4E9F7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918F622E-7661-07A5-4FA6-4C02DDB207AB}"/>
              </a:ext>
            </a:extLst>
          </p:cNvPr>
          <p:cNvSpPr/>
          <p:nvPr/>
        </p:nvSpPr>
        <p:spPr>
          <a:xfrm>
            <a:off x="755761" y="201296"/>
            <a:ext cx="6559440" cy="1525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ru-RU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Варианты </a:t>
            </a:r>
          </a:p>
          <a:p>
            <a:pPr marL="0" indent="0" algn="l">
              <a:lnSpc>
                <a:spcPts val="5600"/>
              </a:lnSpc>
              <a:buNone/>
            </a:pPr>
            <a:r>
              <a:rPr lang="ru-RU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использования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A47851AD-4058-E578-FC9F-035FA2F57EB0}"/>
              </a:ext>
            </a:extLst>
          </p:cNvPr>
          <p:cNvSpPr/>
          <p:nvPr/>
        </p:nvSpPr>
        <p:spPr>
          <a:xfrm>
            <a:off x="12601575" y="7591425"/>
            <a:ext cx="1933575" cy="5314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1" name="Рисунок 10" descr="Изображение выглядит как текст, диаграмма, документ, чек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F98273E8-1A05-3131-AE00-4235F1EF5D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1854" y="197174"/>
            <a:ext cx="6303459" cy="792574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A6184A5-7ED7-865C-7B02-41FE4048CA53}"/>
              </a:ext>
            </a:extLst>
          </p:cNvPr>
          <p:cNvSpPr txBox="1"/>
          <p:nvPr/>
        </p:nvSpPr>
        <p:spPr>
          <a:xfrm>
            <a:off x="755760" y="1834108"/>
            <a:ext cx="6303459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000" dirty="0">
                <a:solidFill>
                  <a:srgbClr val="384653"/>
                </a:solidFill>
                <a:latin typeface="Montserrat" pitchFamily="34" charset="0"/>
              </a:rPr>
              <a:t>Диаграмма вариантов использования отражает взаимодействие пользователей с системой на концептуальном уровне. </a:t>
            </a:r>
          </a:p>
          <a:p>
            <a:pPr algn="just"/>
            <a:endParaRPr lang="ru-RU" sz="2000" dirty="0">
              <a:solidFill>
                <a:srgbClr val="384653"/>
              </a:solidFill>
              <a:latin typeface="Montserrat" pitchFamily="34" charset="0"/>
            </a:endParaRPr>
          </a:p>
          <a:p>
            <a:pPr algn="just"/>
            <a:r>
              <a:rPr lang="ru-RU" sz="2000" dirty="0">
                <a:solidFill>
                  <a:srgbClr val="384653"/>
                </a:solidFill>
                <a:latin typeface="Montserrat" pitchFamily="34" charset="0"/>
              </a:rPr>
              <a:t>Администратор управляет пользователями, ведомостями, студентами, дисциплинами и статистикой. </a:t>
            </a:r>
          </a:p>
          <a:p>
            <a:pPr algn="just"/>
            <a:endParaRPr lang="ru-RU" sz="2000" dirty="0">
              <a:solidFill>
                <a:srgbClr val="384653"/>
              </a:solidFill>
              <a:latin typeface="Montserrat" pitchFamily="34" charset="0"/>
            </a:endParaRPr>
          </a:p>
          <a:p>
            <a:pPr algn="just"/>
            <a:r>
              <a:rPr lang="ru-RU" sz="2000" dirty="0">
                <a:solidFill>
                  <a:srgbClr val="384653"/>
                </a:solidFill>
                <a:latin typeface="Montserrat" pitchFamily="34" charset="0"/>
              </a:rPr>
              <a:t>Преподаватели работают с ведомостями, выставляют оценки. </a:t>
            </a:r>
          </a:p>
          <a:p>
            <a:pPr algn="just"/>
            <a:endParaRPr lang="ru-RU" sz="2000" dirty="0">
              <a:solidFill>
                <a:srgbClr val="384653"/>
              </a:solidFill>
              <a:latin typeface="Montserrat" pitchFamily="34" charset="0"/>
            </a:endParaRPr>
          </a:p>
          <a:p>
            <a:pPr algn="just"/>
            <a:r>
              <a:rPr lang="ru-RU" sz="2000" dirty="0">
                <a:solidFill>
                  <a:srgbClr val="384653"/>
                </a:solidFill>
                <a:latin typeface="Montserrat" pitchFamily="34" charset="0"/>
              </a:rPr>
              <a:t>Гостям доступен просмотр статистики и базовые функции безопасности</a:t>
            </a:r>
            <a:endParaRPr lang="ru-RU" sz="2400" dirty="0">
              <a:solidFill>
                <a:srgbClr val="384653"/>
              </a:solidFill>
              <a:latin typeface="Montserra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76484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302314C6-D30B-F7D1-3B37-163CD505C13C}"/>
              </a:ext>
            </a:extLst>
          </p:cNvPr>
          <p:cNvSpPr/>
          <p:nvPr/>
        </p:nvSpPr>
        <p:spPr>
          <a:xfrm>
            <a:off x="12601575" y="7591425"/>
            <a:ext cx="1933575" cy="5314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74701" y="286361"/>
            <a:ext cx="6778228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Система безопасности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44709" y="2077891"/>
            <a:ext cx="7627382" cy="1281232"/>
          </a:xfrm>
          <a:prstGeom prst="roundRect">
            <a:avLst>
              <a:gd name="adj" fmla="val 25366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68904" y="2302085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Access-</a:t>
            </a:r>
            <a:r>
              <a:rPr lang="en-US" sz="3200" b="1" dirty="0" err="1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токены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6468904" y="2788218"/>
            <a:ext cx="7178993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Аутентификация</a:t>
            </a: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ru-RU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</a:t>
            </a: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4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проверк</a:t>
            </a:r>
            <a:r>
              <a:rPr lang="ru-RU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</a:t>
            </a: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ru-RU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при </a:t>
            </a:r>
            <a:r>
              <a:rPr lang="en-US" sz="24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запрос</a:t>
            </a:r>
            <a:r>
              <a:rPr lang="ru-RU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ах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6244709" y="4809689"/>
            <a:ext cx="7627382" cy="1281232"/>
          </a:xfrm>
          <a:prstGeom prst="roundRect">
            <a:avLst>
              <a:gd name="adj" fmla="val 25366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68904" y="5033884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Ролевая модель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6468904" y="5520016"/>
            <a:ext cx="7178993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Разграничение </a:t>
            </a:r>
            <a:r>
              <a:rPr lang="en-US" sz="24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доступа</a:t>
            </a: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4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пользовател</a:t>
            </a:r>
            <a:r>
              <a:rPr lang="ru-RU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ей</a:t>
            </a:r>
            <a:endParaRPr lang="en-US" sz="2400" dirty="0"/>
          </a:p>
        </p:txBody>
      </p:sp>
      <p:sp>
        <p:nvSpPr>
          <p:cNvPr id="13" name="Shape 10"/>
          <p:cNvSpPr/>
          <p:nvPr/>
        </p:nvSpPr>
        <p:spPr>
          <a:xfrm>
            <a:off x="6244709" y="6173494"/>
            <a:ext cx="7627382" cy="1281232"/>
          </a:xfrm>
          <a:prstGeom prst="roundRect">
            <a:avLst>
              <a:gd name="adj" fmla="val 25366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68904" y="6397689"/>
            <a:ext cx="6484025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Шифрование AES-256 и </a:t>
            </a:r>
            <a:r>
              <a:rPr lang="en-US" sz="3200" b="1" dirty="0" err="1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bcrypt</a:t>
            </a:r>
            <a:endParaRPr lang="en-US" sz="3200" dirty="0"/>
          </a:p>
        </p:txBody>
      </p:sp>
      <p:sp>
        <p:nvSpPr>
          <p:cNvPr id="15" name="Text 12"/>
          <p:cNvSpPr/>
          <p:nvPr/>
        </p:nvSpPr>
        <p:spPr>
          <a:xfrm>
            <a:off x="6468904" y="6883821"/>
            <a:ext cx="7178993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Защита учетных данных преподавателей</a:t>
            </a:r>
            <a:endParaRPr lang="en-US" sz="2400" dirty="0"/>
          </a:p>
        </p:txBody>
      </p:sp>
      <p:sp>
        <p:nvSpPr>
          <p:cNvPr id="17" name="Text 2">
            <a:extLst>
              <a:ext uri="{FF2B5EF4-FFF2-40B4-BE49-F238E27FC236}">
                <a16:creationId xmlns:a16="http://schemas.microsoft.com/office/drawing/2014/main" id="{142ADC48-BEE4-E621-1EC4-28D824113BDB}"/>
              </a:ext>
            </a:extLst>
          </p:cNvPr>
          <p:cNvSpPr/>
          <p:nvPr/>
        </p:nvSpPr>
        <p:spPr>
          <a:xfrm>
            <a:off x="6244709" y="999069"/>
            <a:ext cx="7627382" cy="7803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Для обеспечения безопасности использованы</a:t>
            </a:r>
          </a:p>
          <a:p>
            <a:pPr marL="0" indent="0" algn="l">
              <a:lnSpc>
                <a:spcPts val="27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следующие технологии и решения:</a:t>
            </a:r>
            <a:endParaRPr lang="en-US" sz="2400" dirty="0"/>
          </a:p>
        </p:txBody>
      </p:sp>
      <p:sp>
        <p:nvSpPr>
          <p:cNvPr id="25" name="Shape 4">
            <a:extLst>
              <a:ext uri="{FF2B5EF4-FFF2-40B4-BE49-F238E27FC236}">
                <a16:creationId xmlns:a16="http://schemas.microsoft.com/office/drawing/2014/main" id="{4FE242D6-BE31-450D-506B-0CCABA7091C2}"/>
              </a:ext>
            </a:extLst>
          </p:cNvPr>
          <p:cNvSpPr/>
          <p:nvPr/>
        </p:nvSpPr>
        <p:spPr>
          <a:xfrm>
            <a:off x="6244709" y="3443790"/>
            <a:ext cx="7627382" cy="1281232"/>
          </a:xfrm>
          <a:prstGeom prst="roundRect">
            <a:avLst>
              <a:gd name="adj" fmla="val 25366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ru-RU" sz="2800"/>
          </a:p>
        </p:txBody>
      </p:sp>
      <p:sp>
        <p:nvSpPr>
          <p:cNvPr id="26" name="Text 5">
            <a:extLst>
              <a:ext uri="{FF2B5EF4-FFF2-40B4-BE49-F238E27FC236}">
                <a16:creationId xmlns:a16="http://schemas.microsoft.com/office/drawing/2014/main" id="{163996D6-3553-9AAB-F7FE-2315C1E83861}"/>
              </a:ext>
            </a:extLst>
          </p:cNvPr>
          <p:cNvSpPr/>
          <p:nvPr/>
        </p:nvSpPr>
        <p:spPr>
          <a:xfrm>
            <a:off x="6468904" y="3667985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Refresh-токены</a:t>
            </a:r>
            <a:endParaRPr lang="en-US" sz="3200" dirty="0"/>
          </a:p>
        </p:txBody>
      </p:sp>
      <p:sp>
        <p:nvSpPr>
          <p:cNvPr id="27" name="Text 6">
            <a:extLst>
              <a:ext uri="{FF2B5EF4-FFF2-40B4-BE49-F238E27FC236}">
                <a16:creationId xmlns:a16="http://schemas.microsoft.com/office/drawing/2014/main" id="{2B3BBA62-1E44-864E-5383-6CFDDB5F64B0}"/>
              </a:ext>
            </a:extLst>
          </p:cNvPr>
          <p:cNvSpPr/>
          <p:nvPr/>
        </p:nvSpPr>
        <p:spPr>
          <a:xfrm>
            <a:off x="6468904" y="4154117"/>
            <a:ext cx="7178993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Обеспечение непрерывности сессии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4357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3153191"/>
            <a:ext cx="6746558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Работа с документами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85575" y="4840783"/>
            <a:ext cx="3034665" cy="216575"/>
          </a:xfrm>
          <a:prstGeom prst="roundRect">
            <a:avLst>
              <a:gd name="adj" fmla="val 150060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85575" y="5382279"/>
            <a:ext cx="3027759" cy="693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ru-RU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Загрузка</a:t>
            </a: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</a:t>
            </a:r>
            <a:endParaRPr lang="ru-RU" sz="3200" b="1" dirty="0">
              <a:solidFill>
                <a:srgbClr val="384653"/>
              </a:solidFill>
              <a:latin typeface="Barlow Bold" pitchFamily="34" charset="0"/>
              <a:ea typeface="Barlow Bold" pitchFamily="34" charset="-122"/>
              <a:cs typeface="Barlow Bold" pitchFamily="34" charset="-120"/>
            </a:endParaRPr>
          </a:p>
          <a:p>
            <a:pPr marL="0" indent="0" algn="l">
              <a:lnSpc>
                <a:spcPts val="2800"/>
              </a:lnSpc>
              <a:buNone/>
            </a:pPr>
            <a:r>
              <a:rPr lang="en-US" sz="3200" b="1" dirty="0" err="1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шаблон</a:t>
            </a:r>
            <a:r>
              <a:rPr lang="ru-RU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а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778669" y="6134504"/>
            <a:ext cx="3034665" cy="1320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DOCX-</a:t>
            </a:r>
            <a:r>
              <a:rPr lang="en-US" sz="24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шаблон</a:t>
            </a: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с</a:t>
            </a:r>
            <a:endParaRPr lang="ru-RU" sz="2400" dirty="0">
              <a:solidFill>
                <a:srgbClr val="384653"/>
              </a:solidFill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  <a:p>
            <a:pPr marL="0" indent="0" algn="l">
              <a:lnSpc>
                <a:spcPts val="27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</a:t>
            </a:r>
            <a:r>
              <a:rPr lang="en-US" sz="24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олями</a:t>
            </a:r>
            <a:r>
              <a:rPr lang="ru-RU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для заполнения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4145162" y="4515862"/>
            <a:ext cx="3034784" cy="216575"/>
          </a:xfrm>
          <a:prstGeom prst="roundRect">
            <a:avLst>
              <a:gd name="adj" fmla="val 150060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45162" y="5057358"/>
            <a:ext cx="3034784" cy="7309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Заполнение данными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4158854" y="5863042"/>
            <a:ext cx="3034784" cy="10154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Docxtemplater + PizZip для вставки данных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7504867" y="4190821"/>
            <a:ext cx="3034784" cy="216575"/>
          </a:xfrm>
          <a:prstGeom prst="roundRect">
            <a:avLst>
              <a:gd name="adj" fmla="val 150060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504867" y="4732317"/>
            <a:ext cx="2850713" cy="730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 err="1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Конвертация</a:t>
            </a: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</a:t>
            </a:r>
            <a:endParaRPr lang="ru-RU" sz="3200" b="1" dirty="0">
              <a:solidFill>
                <a:srgbClr val="384653"/>
              </a:solidFill>
              <a:latin typeface="Barlow Bold" pitchFamily="34" charset="0"/>
              <a:ea typeface="Barlow Bold" pitchFamily="34" charset="-122"/>
              <a:cs typeface="Barlow Bold" pitchFamily="34" charset="-120"/>
            </a:endParaRPr>
          </a:p>
          <a:p>
            <a:pPr marL="0" indent="0" algn="l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в PDF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7532133" y="5463284"/>
            <a:ext cx="3034784" cy="10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COM-интерфейс Microsoft Word через PowerShell</a:t>
            </a:r>
            <a:endParaRPr lang="en-US" sz="2400" dirty="0"/>
          </a:p>
        </p:txBody>
      </p:sp>
      <p:sp>
        <p:nvSpPr>
          <p:cNvPr id="13" name="Shape 10"/>
          <p:cNvSpPr/>
          <p:nvPr/>
        </p:nvSpPr>
        <p:spPr>
          <a:xfrm>
            <a:off x="10864573" y="3865899"/>
            <a:ext cx="3034784" cy="216575"/>
          </a:xfrm>
          <a:prstGeom prst="roundRect">
            <a:avLst>
              <a:gd name="adj" fmla="val 150060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864573" y="4407396"/>
            <a:ext cx="3034784" cy="356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Отправка документов</a:t>
            </a:r>
            <a:endParaRPr lang="en-US" sz="3200" dirty="0"/>
          </a:p>
        </p:txBody>
      </p:sp>
      <p:sp>
        <p:nvSpPr>
          <p:cNvPr id="15" name="Text 12"/>
          <p:cNvSpPr/>
          <p:nvPr/>
        </p:nvSpPr>
        <p:spPr>
          <a:xfrm>
            <a:off x="10864573" y="5235474"/>
            <a:ext cx="3034784" cy="11206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Рассылка через Nodemailer по SMTP</a:t>
            </a:r>
            <a:endParaRPr lang="en-US" sz="2400" dirty="0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60DC2E61-2E8B-5CDD-6D53-35831D6A5EA6}"/>
              </a:ext>
            </a:extLst>
          </p:cNvPr>
          <p:cNvSpPr/>
          <p:nvPr/>
        </p:nvSpPr>
        <p:spPr>
          <a:xfrm>
            <a:off x="12601575" y="7591425"/>
            <a:ext cx="1933575" cy="5314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99AB82B-1CB4-A303-7448-1D6B7E93EB76}"/>
              </a:ext>
            </a:extLst>
          </p:cNvPr>
          <p:cNvSpPr/>
          <p:nvPr/>
        </p:nvSpPr>
        <p:spPr>
          <a:xfrm>
            <a:off x="12601575" y="7591425"/>
            <a:ext cx="1933575" cy="5314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CDAD1EE-FB24-32CA-6CFF-0BDA283D4B0B}"/>
              </a:ext>
            </a:extLst>
          </p:cNvPr>
          <p:cNvSpPr/>
          <p:nvPr/>
        </p:nvSpPr>
        <p:spPr>
          <a:xfrm>
            <a:off x="671332" y="2141315"/>
            <a:ext cx="13299311" cy="4977115"/>
          </a:xfrm>
          <a:prstGeom prst="rect">
            <a:avLst/>
          </a:prstGeom>
          <a:solidFill>
            <a:srgbClr val="D4E9F7"/>
          </a:solidFill>
          <a:ln>
            <a:noFill/>
          </a:ln>
          <a:scene3d>
            <a:camera prst="orthographicFront"/>
            <a:lightRig rig="threePt" dir="t">
              <a:rot lat="0" lon="0" rev="0"/>
            </a:lightRig>
          </a:scene3d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 0"/>
          <p:cNvSpPr/>
          <p:nvPr/>
        </p:nvSpPr>
        <p:spPr>
          <a:xfrm>
            <a:off x="671332" y="758441"/>
            <a:ext cx="928851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ru-RU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И</a:t>
            </a:r>
            <a:r>
              <a:rPr lang="en-US" sz="4450" b="1" dirty="0" err="1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нтерфейс</a:t>
            </a:r>
            <a:r>
              <a:rPr lang="ru-RU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учета успеваемости и посещаемости</a:t>
            </a:r>
            <a:endParaRPr lang="en-US" sz="445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521EFC4-308E-4479-65CF-44A9381BC2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337" b="95308" l="2219" r="96098">
                        <a14:foregroundMark x1="2601" y1="3545" x2="21806" y2="24922"/>
                        <a14:foregroundMark x1="21806" y1="24922" x2="22724" y2="34098"/>
                        <a14:foregroundMark x1="36802" y1="18352" x2="20735" y2="24609"/>
                        <a14:foregroundMark x1="20735" y1="24609" x2="13083" y2="32638"/>
                        <a14:foregroundMark x1="10252" y1="13034" x2="15302" y2="21585"/>
                        <a14:foregroundMark x1="15302" y1="21585" x2="38103" y2="26590"/>
                        <a14:foregroundMark x1="38103" y1="26590" x2="33971" y2="18040"/>
                        <a14:foregroundMark x1="2372" y1="3962" x2="12777" y2="3233"/>
                        <a14:foregroundMark x1="12777" y1="3233" x2="25478" y2="3650"/>
                        <a14:foregroundMark x1="25478" y1="3650" x2="32670" y2="3233"/>
                        <a14:foregroundMark x1="32670" y1="3233" x2="61132" y2="3754"/>
                        <a14:foregroundMark x1="61132" y1="3754" x2="79495" y2="3024"/>
                        <a14:foregroundMark x1="79495" y1="3024" x2="95333" y2="3650"/>
                        <a14:foregroundMark x1="95333" y1="3650" x2="98087" y2="13452"/>
                        <a14:foregroundMark x1="98087" y1="13452" x2="97016" y2="91032"/>
                        <a14:foregroundMark x1="97016" y1="91032" x2="89594" y2="97289"/>
                        <a14:foregroundMark x1="89594" y1="97289" x2="4591" y2="94369"/>
                        <a14:foregroundMark x1="4591" y1="94369" x2="2219" y2="3754"/>
                        <a14:foregroundMark x1="8569" y1="22836" x2="42234" y2="59020"/>
                        <a14:foregroundMark x1="42234" y1="59020" x2="45218" y2="59750"/>
                        <a14:foregroundMark x1="50268" y1="23149" x2="19740" y2="69552"/>
                        <a14:foregroundMark x1="19740" y1="69552" x2="19434" y2="70490"/>
                        <a14:foregroundMark x1="26626" y1="10428" x2="33359" y2="13660"/>
                        <a14:foregroundMark x1="33359" y1="13660" x2="43535" y2="24400"/>
                        <a14:foregroundMark x1="43535" y1="24400" x2="40092" y2="26903"/>
                        <a14:foregroundMark x1="53940" y1="10636" x2="40627" y2="20959"/>
                        <a14:foregroundMark x1="40627" y1="20959" x2="61974" y2="23670"/>
                        <a14:foregroundMark x1="61974" y1="23670" x2="54552" y2="52972"/>
                        <a14:foregroundMark x1="54552" y1="52972" x2="74904" y2="76330"/>
                        <a14:foregroundMark x1="74904" y1="76330" x2="79954" y2="79041"/>
                        <a14:foregroundMark x1="69931" y1="36705" x2="68171" y2="53493"/>
                        <a14:foregroundMark x1="68171" y1="53493" x2="53481" y2="63504"/>
                        <a14:foregroundMark x1="53481" y1="63504" x2="50650" y2="67049"/>
                        <a14:foregroundMark x1="33971" y1="64234" x2="34736" y2="52033"/>
                        <a14:foregroundMark x1="34736" y1="52033" x2="40933" y2="39625"/>
                        <a14:foregroundMark x1="40933" y1="39625" x2="72073" y2="16997"/>
                        <a14:foregroundMark x1="72073" y1="16997" x2="84774" y2="29093"/>
                        <a14:foregroundMark x1="84774" y1="29093" x2="91584" y2="13452"/>
                        <a14:foregroundMark x1="91584" y1="13452" x2="94950" y2="27842"/>
                        <a14:foregroundMark x1="94950" y1="27842" x2="93191" y2="89051"/>
                        <a14:foregroundMark x1="93191" y1="89051" x2="82555" y2="79353"/>
                        <a14:foregroundMark x1="94721" y1="95308" x2="96098" y2="59437"/>
                        <a14:foregroundMark x1="53787" y1="35036" x2="51721" y2="48175"/>
                        <a14:foregroundMark x1="51721" y1="48175" x2="54017" y2="43379"/>
                        <a14:foregroundMark x1="90436" y1="93222" x2="85769" y2="9217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3700" y="2226398"/>
            <a:ext cx="6504038" cy="4772281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F2B7F0C-1A2E-81B9-EB39-DFE02FB6389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5335" b="94247" l="3588" r="97863">
                        <a14:foregroundMark x1="2595" y1="2929" x2="10229" y2="9310"/>
                        <a14:foregroundMark x1="10229" y1="9310" x2="42443" y2="14017"/>
                        <a14:foregroundMark x1="42443" y1="14017" x2="67023" y2="27406"/>
                        <a14:foregroundMark x1="67023" y1="27406" x2="57710" y2="55230"/>
                        <a14:foregroundMark x1="57710" y1="55230" x2="34046" y2="37343"/>
                        <a14:foregroundMark x1="34046" y1="37343" x2="44885" y2="15063"/>
                        <a14:foregroundMark x1="44885" y1="15063" x2="65420" y2="18410"/>
                        <a14:foregroundMark x1="65420" y1="18410" x2="67023" y2="19874"/>
                        <a14:foregroundMark x1="55344" y1="15795" x2="39008" y2="14854"/>
                        <a14:foregroundMark x1="39008" y1="14854" x2="15115" y2="50209"/>
                        <a14:foregroundMark x1="15115" y1="50209" x2="41985" y2="79498"/>
                        <a14:foregroundMark x1="41985" y1="79498" x2="76107" y2="52824"/>
                        <a14:foregroundMark x1="76107" y1="52824" x2="49160" y2="16841"/>
                        <a14:foregroundMark x1="49160" y1="16841" x2="35038" y2="14226"/>
                        <a14:foregroundMark x1="74122" y1="30858" x2="57023" y2="45502"/>
                        <a14:foregroundMark x1="57023" y1="45502" x2="49084" y2="90063"/>
                        <a14:foregroundMark x1="49084" y1="90063" x2="78473" y2="91109"/>
                        <a14:foregroundMark x1="78473" y1="91109" x2="87023" y2="73326"/>
                        <a14:foregroundMark x1="87023" y1="73326" x2="75191" y2="55021"/>
                        <a14:foregroundMark x1="75191" y1="55021" x2="73817" y2="54289"/>
                        <a14:foregroundMark x1="88015" y1="49477" x2="84656" y2="60042"/>
                        <a14:foregroundMark x1="84656" y1="60042" x2="90229" y2="79289"/>
                        <a14:foregroundMark x1="90229" y1="79289" x2="95115" y2="59833"/>
                        <a14:foregroundMark x1="95115" y1="59833" x2="89389" y2="15900"/>
                        <a14:foregroundMark x1="89389" y1="15900" x2="83969" y2="33682"/>
                        <a14:foregroundMark x1="83969" y1="33682" x2="84122" y2="51569"/>
                        <a14:foregroundMark x1="84122" y1="51569" x2="83893" y2="51987"/>
                        <a14:foregroundMark x1="85802" y1="14331" x2="76412" y2="16527"/>
                        <a14:foregroundMark x1="76412" y1="16527" x2="74427" y2="40167"/>
                        <a14:foregroundMark x1="74427" y1="40167" x2="81527" y2="14435"/>
                        <a14:foregroundMark x1="81527" y1="14435" x2="70992" y2="14017"/>
                        <a14:foregroundMark x1="52977" y1="5439" x2="60611" y2="10146"/>
                        <a14:foregroundMark x1="60611" y1="10146" x2="49084" y2="5439"/>
                        <a14:foregroundMark x1="49084" y1="5439" x2="52748" y2="9833"/>
                        <a14:foregroundMark x1="17481" y1="60774" x2="14275" y2="70607"/>
                        <a14:foregroundMark x1="14275" y1="70607" x2="25954" y2="80230"/>
                        <a14:foregroundMark x1="25954" y1="80230" x2="16031" y2="63598"/>
                        <a14:foregroundMark x1="16031" y1="63598" x2="11450" y2="66004"/>
                        <a14:foregroundMark x1="11450" y1="66004" x2="11603" y2="66004"/>
                        <a14:foregroundMark x1="11603" y1="76464" x2="8473" y2="84414"/>
                        <a14:foregroundMark x1="8473" y1="84414" x2="15038" y2="87552"/>
                        <a14:foregroundMark x1="15038" y1="87552" x2="7786" y2="78243"/>
                        <a14:foregroundMark x1="7786" y1="78243" x2="7252" y2="78661"/>
                        <a14:foregroundMark x1="4504" y1="63703" x2="2595" y2="79707"/>
                        <a14:foregroundMark x1="2595" y1="79707" x2="6031" y2="73013"/>
                        <a14:foregroundMark x1="6031" y1="73013" x2="5573" y2="63494"/>
                        <a14:foregroundMark x1="5573" y1="63494" x2="4656" y2="63180"/>
                        <a14:foregroundMark x1="5191" y1="86402" x2="5420" y2="92469"/>
                        <a14:foregroundMark x1="5420" y1="92469" x2="10763" y2="91004"/>
                        <a14:foregroundMark x1="10763" y1="91004" x2="6107" y2="89958"/>
                        <a14:foregroundMark x1="6107" y1="89958" x2="5725" y2="91423"/>
                        <a14:foregroundMark x1="3664" y1="92364" x2="4351" y2="94247"/>
                        <a14:foregroundMark x1="90687" y1="88389" x2="91298" y2="90272"/>
                        <a14:foregroundMark x1="93359" y1="87343" x2="92214" y2="87029"/>
                        <a14:foregroundMark x1="97863" y1="93410" x2="92901" y2="86297"/>
                        <a14:foregroundMark x1="92901" y1="86297" x2="83282" y2="88075"/>
                        <a14:foregroundMark x1="83282" y1="88075" x2="92290" y2="89331"/>
                        <a14:foregroundMark x1="92290" y1="89331" x2="94275" y2="92469"/>
                        <a14:foregroundMark x1="93893" y1="7950" x2="88092" y2="9519"/>
                        <a14:foregroundMark x1="7481" y1="8891" x2="13511" y2="8054"/>
                        <a14:foregroundMark x1="13511" y1="8054" x2="9389" y2="795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332667" y="2226398"/>
            <a:ext cx="6539424" cy="4772281"/>
          </a:xfrm>
          <a:prstGeom prst="rect">
            <a:avLst/>
          </a:prstGeom>
        </p:spPr>
      </p:pic>
      <p:sp>
        <p:nvSpPr>
          <p:cNvPr id="9" name="Text 2">
            <a:extLst>
              <a:ext uri="{FF2B5EF4-FFF2-40B4-BE49-F238E27FC236}">
                <a16:creationId xmlns:a16="http://schemas.microsoft.com/office/drawing/2014/main" id="{EFBD6B3A-3742-0301-82D5-700258739A7A}"/>
              </a:ext>
            </a:extLst>
          </p:cNvPr>
          <p:cNvSpPr/>
          <p:nvPr/>
        </p:nvSpPr>
        <p:spPr>
          <a:xfrm>
            <a:off x="791051" y="1471149"/>
            <a:ext cx="11608615" cy="457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Формы выставления текущих и аттестационных оценок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B6AC4-C82F-FF9E-5A62-E26866120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9E5B1472-3370-13A5-21AE-0D33BECB8B30}"/>
              </a:ext>
            </a:extLst>
          </p:cNvPr>
          <p:cNvSpPr/>
          <p:nvPr/>
        </p:nvSpPr>
        <p:spPr>
          <a:xfrm>
            <a:off x="12601575" y="7591425"/>
            <a:ext cx="1933575" cy="5314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55A4D1CB-BD1B-4DFD-0F4D-D5A0A4715F06}"/>
              </a:ext>
            </a:extLst>
          </p:cNvPr>
          <p:cNvSpPr/>
          <p:nvPr/>
        </p:nvSpPr>
        <p:spPr>
          <a:xfrm>
            <a:off x="1061294" y="1382114"/>
            <a:ext cx="12423212" cy="6600572"/>
          </a:xfrm>
          <a:prstGeom prst="rect">
            <a:avLst/>
          </a:prstGeom>
          <a:solidFill>
            <a:srgbClr val="D4E9F7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4B4EEA5-6FA5-112E-5A69-9AD403570B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794" b="96813" l="3232" r="95437">
                        <a14:foregroundMark x1="8365" y1="4856" x2="64259" y2="14112"/>
                        <a14:foregroundMark x1="64259" y1="14112" x2="35551" y2="80880"/>
                        <a14:foregroundMark x1="35551" y1="80880" x2="40304" y2="92716"/>
                        <a14:foregroundMark x1="40304" y1="92716" x2="45437" y2="95144"/>
                        <a14:foregroundMark x1="68251" y1="90440" x2="64639" y2="79059"/>
                        <a14:foregroundMark x1="64639" y1="79059" x2="66350" y2="23672"/>
                        <a14:foregroundMark x1="57224" y1="42944" x2="29468" y2="53566"/>
                        <a14:foregroundMark x1="29468" y1="53566" x2="12928" y2="75873"/>
                        <a14:foregroundMark x1="12928" y1="75873" x2="9316" y2="88771"/>
                        <a14:foregroundMark x1="9316" y1="88771" x2="6274" y2="18665"/>
                        <a14:foregroundMark x1="6274" y1="18665" x2="7985" y2="9256"/>
                        <a14:foregroundMark x1="7985" y1="9256" x2="29278" y2="6525"/>
                        <a14:foregroundMark x1="29278" y1="6525" x2="45437" y2="23217"/>
                        <a14:foregroundMark x1="45437" y1="23217" x2="28137" y2="43854"/>
                        <a14:foregroundMark x1="5133" y1="10167" x2="3612" y2="28225"/>
                        <a14:foregroundMark x1="3612" y1="28225" x2="3992" y2="29439"/>
                        <a14:foregroundMark x1="5703" y1="7284" x2="16920" y2="3794"/>
                        <a14:foregroundMark x1="16920" y1="3794" x2="19582" y2="3945"/>
                        <a14:foregroundMark x1="95247" y1="5008" x2="95247" y2="17299"/>
                        <a14:foregroundMark x1="12167" y1="92716" x2="14639" y2="95296"/>
                        <a14:foregroundMark x1="17871" y1="96965" x2="24715" y2="92716"/>
                        <a14:foregroundMark x1="15589" y1="93020" x2="20722" y2="93020"/>
                        <a14:foregroundMark x1="95437" y1="39454" x2="94106" y2="3535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991687" y="3670624"/>
            <a:ext cx="3334543" cy="4177689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84C71A0-019A-B778-8952-2874EE05F6A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8257" r="92890">
                        <a14:foregroundMark x1="8486" y1="10667" x2="21560" y2="19333"/>
                        <a14:foregroundMark x1="21560" y1="19333" x2="68349" y2="25333"/>
                        <a14:foregroundMark x1="68349" y1="25333" x2="64450" y2="42667"/>
                        <a14:foregroundMark x1="64450" y1="42667" x2="49541" y2="54333"/>
                        <a14:foregroundMark x1="49541" y1="54333" x2="40596" y2="70667"/>
                        <a14:foregroundMark x1="40596" y1="70667" x2="25688" y2="78667"/>
                        <a14:foregroundMark x1="25688" y1="78667" x2="13991" y2="71333"/>
                        <a14:foregroundMark x1="13991" y1="71333" x2="11697" y2="34333"/>
                        <a14:foregroundMark x1="11697" y1="34333" x2="53211" y2="22000"/>
                        <a14:foregroundMark x1="53211" y1="22000" x2="54358" y2="63333"/>
                        <a14:foregroundMark x1="54358" y1="63333" x2="75459" y2="53333"/>
                        <a14:foregroundMark x1="75459" y1="53333" x2="83716" y2="76333"/>
                        <a14:foregroundMark x1="83716" y1="76333" x2="88303" y2="21667"/>
                        <a14:foregroundMark x1="88303" y1="21667" x2="92890" y2="40667"/>
                        <a14:foregroundMark x1="92890" y1="40667" x2="89908" y2="50333"/>
                        <a14:foregroundMark x1="85321" y1="82000" x2="87156" y2="58333"/>
                        <a14:foregroundMark x1="90596" y1="67000" x2="71330" y2="83667"/>
                        <a14:foregroundMark x1="71330" y1="83667" x2="14908" y2="88667"/>
                        <a14:foregroundMark x1="14908" y1="88667" x2="8716" y2="64333"/>
                        <a14:foregroundMark x1="8716" y1="64333" x2="11927" y2="43667"/>
                        <a14:foregroundMark x1="86239" y1="77667" x2="91284" y2="60000"/>
                        <a14:foregroundMark x1="91284" y1="60000" x2="91284" y2="56333"/>
                        <a14:foregroundMark x1="87615" y1="81000" x2="78899" y2="87667"/>
                        <a14:foregroundMark x1="90826" y1="77000" x2="88761" y2="85000"/>
                        <a14:foregroundMark x1="52294" y1="67000" x2="37385" y2="50333"/>
                        <a14:foregroundMark x1="37385" y1="50333" x2="54128" y2="56333"/>
                        <a14:foregroundMark x1="54128" y1="56333" x2="72936" y2="39333"/>
                        <a14:foregroundMark x1="72936" y1="39333" x2="72706" y2="22000"/>
                        <a14:foregroundMark x1="72706" y1="22000" x2="38991" y2="20667"/>
                        <a14:foregroundMark x1="64908" y1="23667" x2="79587" y2="25333"/>
                        <a14:foregroundMark x1="79587" y1="25333" x2="71101" y2="50667"/>
                        <a14:foregroundMark x1="71101" y1="50667" x2="70872" y2="55667"/>
                        <a14:foregroundMark x1="82110" y1="28667" x2="77982" y2="59667"/>
                        <a14:foregroundMark x1="57569" y1="68333" x2="78670" y2="61000"/>
                        <a14:foregroundMark x1="33257" y1="52000" x2="22248" y2="61000"/>
                        <a14:foregroundMark x1="22248" y1="61000" x2="38073" y2="51333"/>
                        <a14:foregroundMark x1="38073" y1="51333" x2="25229" y2="38000"/>
                        <a14:foregroundMark x1="25229" y1="38000" x2="17202" y2="46667"/>
                        <a14:foregroundMark x1="10550" y1="20667" x2="13073" y2="67333"/>
                        <a14:foregroundMark x1="13073" y1="67333" x2="32110" y2="48333"/>
                        <a14:foregroundMark x1="32110" y1="48333" x2="23624" y2="19000"/>
                        <a14:foregroundMark x1="23624" y1="19000" x2="10780" y2="21333"/>
                        <a14:foregroundMark x1="29817" y1="37333" x2="20413" y2="49000"/>
                        <a14:foregroundMark x1="20413" y1="49000" x2="40826" y2="70333"/>
                        <a14:foregroundMark x1="40826" y1="70333" x2="35092" y2="37667"/>
                        <a14:foregroundMark x1="35092" y1="37667" x2="18578" y2="51000"/>
                        <a14:foregroundMark x1="59174" y1="40000" x2="40826" y2="52667"/>
                        <a14:foregroundMark x1="40826" y1="52667" x2="32569" y2="42000"/>
                        <a14:foregroundMark x1="25688" y1="16333" x2="87844" y2="15000"/>
                        <a14:foregroundMark x1="27982" y1="59333" x2="25917" y2="65667"/>
                        <a14:foregroundMark x1="29587" y1="66333" x2="31881" y2="59667"/>
                        <a14:foregroundMark x1="18578" y1="67333" x2="17431" y2="69000"/>
                        <a14:foregroundMark x1="24771" y1="66000" x2="25459" y2="66667"/>
                        <a14:foregroundMark x1="9174" y1="82333" x2="8257" y2="83333"/>
                        <a14:foregroundMark x1="8716" y1="79333" x2="8716" y2="7700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798327" y="1286663"/>
            <a:ext cx="3686179" cy="2536361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7017DDBB-294C-1327-485C-353618F3DB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794" b="96813" l="3232" r="95437">
                        <a14:foregroundMark x1="8365" y1="4856" x2="64259" y2="14112"/>
                        <a14:foregroundMark x1="64259" y1="14112" x2="35551" y2="80880"/>
                        <a14:foregroundMark x1="35551" y1="80880" x2="40304" y2="92716"/>
                        <a14:foregroundMark x1="40304" y1="92716" x2="45437" y2="95144"/>
                        <a14:foregroundMark x1="68251" y1="90440" x2="64639" y2="79059"/>
                        <a14:foregroundMark x1="64639" y1="79059" x2="66350" y2="23672"/>
                        <a14:foregroundMark x1="57224" y1="42944" x2="29468" y2="53566"/>
                        <a14:foregroundMark x1="29468" y1="53566" x2="12928" y2="75873"/>
                        <a14:foregroundMark x1="12928" y1="75873" x2="9316" y2="88771"/>
                        <a14:foregroundMark x1="9316" y1="88771" x2="6274" y2="18665"/>
                        <a14:foregroundMark x1="6274" y1="18665" x2="7985" y2="9256"/>
                        <a14:foregroundMark x1="7985" y1="9256" x2="29278" y2="6525"/>
                        <a14:foregroundMark x1="29278" y1="6525" x2="45437" y2="23217"/>
                        <a14:foregroundMark x1="45437" y1="23217" x2="28137" y2="43854"/>
                        <a14:foregroundMark x1="5133" y1="10167" x2="3612" y2="28225"/>
                        <a14:foregroundMark x1="3612" y1="28225" x2="3992" y2="29439"/>
                        <a14:foregroundMark x1="5703" y1="7284" x2="16920" y2="3794"/>
                        <a14:foregroundMark x1="16920" y1="3794" x2="19582" y2="3945"/>
                        <a14:foregroundMark x1="95247" y1="5008" x2="95247" y2="17299"/>
                        <a14:foregroundMark x1="12167" y1="92716" x2="14639" y2="95296"/>
                        <a14:foregroundMark x1="17871" y1="96965" x2="24715" y2="92716"/>
                        <a14:foregroundMark x1="15589" y1="93020" x2="20722" y2="93020"/>
                        <a14:foregroundMark x1="95437" y1="39454" x2="94106" y2="3535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984382" y="3618380"/>
            <a:ext cx="3334543" cy="4177689"/>
          </a:xfrm>
          <a:prstGeom prst="rect">
            <a:avLst/>
          </a:prstGeom>
        </p:spPr>
      </p:pic>
      <p:sp>
        <p:nvSpPr>
          <p:cNvPr id="22" name="Text 0">
            <a:extLst>
              <a:ext uri="{FF2B5EF4-FFF2-40B4-BE49-F238E27FC236}">
                <a16:creationId xmlns:a16="http://schemas.microsoft.com/office/drawing/2014/main" id="{509C6B68-36CF-690F-2E26-D7FFFB732230}"/>
              </a:ext>
            </a:extLst>
          </p:cNvPr>
          <p:cNvSpPr/>
          <p:nvPr/>
        </p:nvSpPr>
        <p:spPr>
          <a:xfrm>
            <a:off x="1061294" y="260410"/>
            <a:ext cx="12423212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ru-RU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Статистика и взаимодействие с ведомостями</a:t>
            </a:r>
            <a:endParaRPr lang="en-US" sz="4450" dirty="0"/>
          </a:p>
        </p:txBody>
      </p:sp>
      <p:sp>
        <p:nvSpPr>
          <p:cNvPr id="23" name="Text 2">
            <a:extLst>
              <a:ext uri="{FF2B5EF4-FFF2-40B4-BE49-F238E27FC236}">
                <a16:creationId xmlns:a16="http://schemas.microsoft.com/office/drawing/2014/main" id="{4999EDB9-CCEC-7B3D-65AC-71E1B62F9F1D}"/>
              </a:ext>
            </a:extLst>
          </p:cNvPr>
          <p:cNvSpPr/>
          <p:nvPr/>
        </p:nvSpPr>
        <p:spPr>
          <a:xfrm>
            <a:off x="1145894" y="908383"/>
            <a:ext cx="11608615" cy="457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Формы статистики, скачивания и электронной рассылки ведомостей</a:t>
            </a:r>
            <a:endParaRPr lang="en-US" sz="2400" dirty="0"/>
          </a:p>
        </p:txBody>
      </p:sp>
      <p:pic>
        <p:nvPicPr>
          <p:cNvPr id="2" name="Рисунок 1" descr="Изображение выглядит как текст, снимок экрана, программное обеспечение, число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BEAF647C-5EA7-E41B-5A81-1149E02E9FE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807" b="97875" l="2169" r="97909">
                        <a14:foregroundMark x1="4183" y1="7333" x2="21379" y2="13496"/>
                        <a14:foregroundMark x1="21379" y1="13496" x2="31448" y2="23911"/>
                        <a14:foregroundMark x1="31448" y1="23911" x2="40124" y2="41233"/>
                        <a14:foregroundMark x1="40124" y1="41233" x2="43765" y2="68650"/>
                        <a14:foregroundMark x1="43765" y1="68650" x2="53369" y2="70563"/>
                        <a14:foregroundMark x1="18590" y1="59617" x2="19287" y2="56536"/>
                        <a14:foregroundMark x1="17119" y1="42614" x2="24090" y2="47821"/>
                        <a14:foregroundMark x1="25794" y1="36557" x2="18823" y2="46865"/>
                        <a14:foregroundMark x1="18823" y1="46865" x2="15027" y2="63018"/>
                        <a14:foregroundMark x1="34005" y1="60468" x2="28892" y2="68332"/>
                        <a14:foregroundMark x1="28892" y1="68332" x2="24942" y2="55579"/>
                        <a14:foregroundMark x1="24942" y1="55579" x2="9450" y2="66312"/>
                        <a14:foregroundMark x1="9450" y1="66312" x2="4338" y2="47609"/>
                        <a14:foregroundMark x1="4338" y1="47609" x2="3021" y2="9352"/>
                        <a14:foregroundMark x1="3021" y1="9352" x2="15337" y2="2019"/>
                        <a14:foregroundMark x1="15337" y1="2019" x2="24942" y2="3613"/>
                        <a14:foregroundMark x1="24942" y1="3613" x2="34469" y2="19129"/>
                        <a14:foregroundMark x1="34469" y1="19129" x2="26878" y2="54198"/>
                        <a14:foregroundMark x1="26878" y1="54198" x2="19985" y2="68332"/>
                        <a14:foregroundMark x1="19985" y1="68332" x2="14175" y2="71838"/>
                        <a14:foregroundMark x1="14562" y1="77683" x2="9140" y2="36344"/>
                        <a14:foregroundMark x1="9140" y1="36344" x2="24090" y2="37088"/>
                        <a14:foregroundMark x1="24090" y1="37088" x2="18668" y2="73007"/>
                        <a14:foregroundMark x1="18668" y1="73007" x2="13168" y2="78427"/>
                        <a14:foregroundMark x1="13168" y1="78427" x2="12393" y2="78321"/>
                        <a14:foregroundMark x1="45624" y1="76408" x2="38265" y2="82040"/>
                        <a14:foregroundMark x1="38265" y1="82040" x2="23703" y2="58342"/>
                        <a14:foregroundMark x1="23703" y1="58342" x2="47018" y2="25399"/>
                        <a14:foregroundMark x1="47018" y1="25399" x2="73896" y2="57705"/>
                        <a14:foregroundMark x1="73896" y1="57705" x2="58714" y2="87248"/>
                        <a14:foregroundMark x1="58714" y1="87248" x2="40821" y2="83528"/>
                        <a14:foregroundMark x1="40821" y1="83528" x2="39969" y2="82572"/>
                        <a14:foregroundMark x1="76995" y1="63868" x2="74981" y2="50478"/>
                        <a14:foregroundMark x1="74981" y1="50478" x2="53989" y2="59830"/>
                        <a14:foregroundMark x1="53989" y1="59830" x2="71185" y2="52604"/>
                        <a14:foregroundMark x1="71185" y1="52604" x2="63904" y2="69713"/>
                        <a14:foregroundMark x1="63904" y1="69713" x2="65918" y2="58767"/>
                        <a14:foregroundMark x1="65918" y1="58767" x2="78234" y2="77790"/>
                        <a14:foregroundMark x1="78234" y1="77790" x2="88226" y2="78640"/>
                        <a14:foregroundMark x1="88226" y1="78640" x2="86600" y2="32094"/>
                        <a14:foregroundMark x1="86600" y1="32094" x2="82727" y2="17428"/>
                        <a14:foregroundMark x1="82727" y1="17428" x2="45391" y2="12752"/>
                        <a14:foregroundMark x1="45391" y1="12752" x2="62122" y2="11265"/>
                        <a14:foregroundMark x1="62122" y1="11265" x2="47947" y2="11052"/>
                        <a14:foregroundMark x1="2634" y1="4357" x2="2246" y2="97131"/>
                        <a14:foregroundMark x1="9063" y1="93518" x2="32146" y2="95962"/>
                        <a14:foregroundMark x1="32146" y1="95962" x2="41673" y2="95324"/>
                        <a14:foregroundMark x1="41673" y1="95324" x2="97986" y2="96918"/>
                        <a14:foregroundMark x1="97831" y1="97875" x2="97831" y2="2338"/>
                        <a14:foregroundMark x1="96902" y1="3719" x2="37335" y2="1807"/>
                        <a14:foregroundMark x1="86754" y1="7014" x2="94191" y2="10840"/>
                        <a14:foregroundMark x1="95275" y1="7333" x2="92486" y2="10414"/>
                        <a14:foregroundMark x1="93726" y1="6908" x2="87374" y2="7545"/>
                        <a14:foregroundMark x1="87374" y1="7545" x2="96592" y2="10096"/>
                        <a14:foregroundMark x1="96592" y1="10096" x2="94036" y2="6908"/>
                        <a14:foregroundMark x1="80403" y1="22104" x2="68629" y2="30818"/>
                        <a14:foregroundMark x1="68629" y1="30818" x2="73586" y2="38363"/>
                        <a14:foregroundMark x1="73586" y1="38363" x2="74361" y2="28055"/>
                        <a14:foregroundMark x1="24400" y1="29968" x2="18668" y2="26036"/>
                        <a14:foregroundMark x1="18668" y1="26036" x2="12548" y2="26567"/>
                        <a14:foregroundMark x1="12548" y1="26567" x2="16499" y2="32944"/>
                        <a14:foregroundMark x1="26956" y1="73858" x2="22618" y2="80871"/>
                        <a14:foregroundMark x1="22618" y1="80871" x2="28040" y2="86610"/>
                        <a14:foregroundMark x1="28040" y1="86610" x2="20914" y2="82891"/>
                        <a14:foregroundMark x1="20914" y1="82891" x2="21998" y2="83209"/>
                        <a14:foregroundMark x1="7281" y1="19766" x2="9450" y2="22210"/>
                        <a14:foregroundMark x1="13246" y1="22104" x2="13246" y2="21785"/>
                        <a14:foregroundMark x1="14795" y1="19766" x2="11154" y2="21573"/>
                        <a14:foregroundMark x1="12006" y1="21360" x2="12626" y2="21573"/>
                        <a14:foregroundMark x1="12393" y1="21785" x2="12703" y2="2391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45894" y="1460893"/>
            <a:ext cx="8763268" cy="6387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86533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73CD3-B0BA-A031-FC6D-C49B4BBA1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9EDA87C-FC7F-3B31-7BF2-460CD64D7D6A}"/>
              </a:ext>
            </a:extLst>
          </p:cNvPr>
          <p:cNvSpPr/>
          <p:nvPr/>
        </p:nvSpPr>
        <p:spPr>
          <a:xfrm>
            <a:off x="12601575" y="7591425"/>
            <a:ext cx="1933575" cy="5314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CAD1B287-E9A4-45EE-E727-4E5F7730B1FD}"/>
              </a:ext>
            </a:extLst>
          </p:cNvPr>
          <p:cNvSpPr/>
          <p:nvPr/>
        </p:nvSpPr>
        <p:spPr>
          <a:xfrm>
            <a:off x="1265555" y="1418209"/>
            <a:ext cx="11745595" cy="6519989"/>
          </a:xfrm>
          <a:prstGeom prst="roundRect">
            <a:avLst/>
          </a:prstGeom>
          <a:solidFill>
            <a:srgbClr val="D4E9F7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Text 0">
            <a:extLst>
              <a:ext uri="{FF2B5EF4-FFF2-40B4-BE49-F238E27FC236}">
                <a16:creationId xmlns:a16="http://schemas.microsoft.com/office/drawing/2014/main" id="{81E555F2-3E04-90DC-DEB9-127285129A45}"/>
              </a:ext>
            </a:extLst>
          </p:cNvPr>
          <p:cNvSpPr/>
          <p:nvPr/>
        </p:nvSpPr>
        <p:spPr>
          <a:xfrm>
            <a:off x="1265556" y="246067"/>
            <a:ext cx="12423212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ru-RU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Результат работы программы</a:t>
            </a:r>
            <a:endParaRPr lang="en-US" sz="4450" dirty="0"/>
          </a:p>
        </p:txBody>
      </p:sp>
      <p:sp>
        <p:nvSpPr>
          <p:cNvPr id="23" name="Text 2">
            <a:extLst>
              <a:ext uri="{FF2B5EF4-FFF2-40B4-BE49-F238E27FC236}">
                <a16:creationId xmlns:a16="http://schemas.microsoft.com/office/drawing/2014/main" id="{D89750F8-AAD6-E536-022F-6D60B2D2B792}"/>
              </a:ext>
            </a:extLst>
          </p:cNvPr>
          <p:cNvSpPr/>
          <p:nvPr/>
        </p:nvSpPr>
        <p:spPr>
          <a:xfrm>
            <a:off x="1265555" y="908383"/>
            <a:ext cx="11608615" cy="457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Созданная в программе ведомость и электронное сообщение</a:t>
            </a:r>
            <a:endParaRPr lang="en-US" sz="2400" dirty="0"/>
          </a:p>
        </p:txBody>
      </p:sp>
      <p:pic>
        <p:nvPicPr>
          <p:cNvPr id="2" name="Рисунок 1" descr="Изображение выглядит как текст, число, чек, Шриф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1E88F7B9-3360-90BE-3A0C-A54EAC1566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8863" y="1545203"/>
            <a:ext cx="4438706" cy="6276985"/>
          </a:xfrm>
          <a:prstGeom prst="rect">
            <a:avLst/>
          </a:prstGeom>
        </p:spPr>
      </p:pic>
      <p:pic>
        <p:nvPicPr>
          <p:cNvPr id="4" name="Рисунок 3" descr="Изображение выглядит как текст, диаграмма, снимок экрана, Шриф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E9647010-B88D-885C-94D9-6F497C208C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0526" y="1546499"/>
            <a:ext cx="4438706" cy="627698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C99E30D-3B6F-48D4-B795-51897E053B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0526" y="4468329"/>
            <a:ext cx="4438706" cy="3353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3077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179671"/>
            <a:ext cx="7374969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 err="1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Преимущества</a:t>
            </a: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решения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309" y="2662833"/>
            <a:ext cx="4190762" cy="25900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8309" y="5523667"/>
            <a:ext cx="2910245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 err="1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Экономия</a:t>
            </a: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</a:t>
            </a:r>
            <a:endParaRPr lang="ru-RU" sz="3200" b="1" dirty="0">
              <a:solidFill>
                <a:srgbClr val="384653"/>
              </a:solidFill>
              <a:latin typeface="Barlow Bold" pitchFamily="34" charset="0"/>
              <a:ea typeface="Barlow Bold" pitchFamily="34" charset="-122"/>
              <a:cs typeface="Barlow Bold" pitchFamily="34" charset="-120"/>
            </a:endParaRPr>
          </a:p>
          <a:p>
            <a:pPr marL="0" indent="0" algn="l">
              <a:lnSpc>
                <a:spcPts val="2800"/>
              </a:lnSpc>
              <a:buNone/>
            </a:pPr>
            <a:r>
              <a:rPr lang="en-US" sz="3200" b="1" dirty="0" err="1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времени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758309" y="6346982"/>
            <a:ext cx="4190762" cy="702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Сокращение</a:t>
            </a: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endParaRPr lang="ru-RU" sz="2400" dirty="0">
              <a:solidFill>
                <a:srgbClr val="384653"/>
              </a:solidFill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  <a:p>
            <a:pPr marL="0" indent="0" algn="l">
              <a:lnSpc>
                <a:spcPts val="2700"/>
              </a:lnSpc>
              <a:buNone/>
            </a:pPr>
            <a:r>
              <a:rPr lang="en-US" sz="24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рутинных</a:t>
            </a: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4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операций</a:t>
            </a:r>
            <a:endParaRPr lang="en-US" sz="2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9819" y="2662833"/>
            <a:ext cx="4190762" cy="259008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19819" y="5523667"/>
            <a:ext cx="4039672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 err="1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Локальное</a:t>
            </a:r>
            <a:endParaRPr lang="ru-RU" sz="3200" b="1" dirty="0">
              <a:solidFill>
                <a:srgbClr val="384653"/>
              </a:solidFill>
              <a:latin typeface="Barlow Bold" pitchFamily="34" charset="0"/>
              <a:ea typeface="Barlow Bold" pitchFamily="34" charset="-122"/>
              <a:cs typeface="Barlow Bold" pitchFamily="34" charset="-120"/>
            </a:endParaRPr>
          </a:p>
          <a:p>
            <a:pPr marL="0" indent="0" algn="l">
              <a:lnSpc>
                <a:spcPts val="2800"/>
              </a:lnSpc>
              <a:buNone/>
            </a:pPr>
            <a:r>
              <a:rPr lang="en-US" sz="3200" b="1" dirty="0" err="1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развертывание</a:t>
            </a:r>
            <a:endParaRPr lang="en-US" sz="3200" dirty="0"/>
          </a:p>
        </p:txBody>
      </p:sp>
      <p:sp>
        <p:nvSpPr>
          <p:cNvPr id="8" name="Text 4"/>
          <p:cNvSpPr/>
          <p:nvPr/>
        </p:nvSpPr>
        <p:spPr>
          <a:xfrm>
            <a:off x="5219819" y="6356509"/>
            <a:ext cx="419076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Независимость от внешних сервисов</a:t>
            </a:r>
            <a:endParaRPr lang="en-US" sz="24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81329" y="2662833"/>
            <a:ext cx="4190762" cy="259008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81329" y="5523667"/>
            <a:ext cx="4190762" cy="486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Повышение эффективности</a:t>
            </a:r>
            <a:endParaRPr lang="en-US" sz="3200" dirty="0"/>
          </a:p>
        </p:txBody>
      </p:sp>
      <p:sp>
        <p:nvSpPr>
          <p:cNvPr id="11" name="Text 6"/>
          <p:cNvSpPr/>
          <p:nvPr/>
        </p:nvSpPr>
        <p:spPr>
          <a:xfrm>
            <a:off x="9681329" y="6356508"/>
            <a:ext cx="4190762" cy="693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Минимизация</a:t>
            </a: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endParaRPr lang="ru-RU" sz="2400" dirty="0">
              <a:solidFill>
                <a:srgbClr val="384653"/>
              </a:solidFill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  <a:p>
            <a:pPr marL="0" indent="0" algn="l">
              <a:lnSpc>
                <a:spcPts val="2700"/>
              </a:lnSpc>
              <a:buNone/>
            </a:pPr>
            <a:r>
              <a:rPr lang="en-US" sz="24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ошибок</a:t>
            </a: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4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при</a:t>
            </a: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учете</a:t>
            </a:r>
            <a:endParaRPr lang="en-US" sz="2400" dirty="0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48C373F-13EC-E30D-77FE-6C8059EB637E}"/>
              </a:ext>
            </a:extLst>
          </p:cNvPr>
          <p:cNvSpPr/>
          <p:nvPr/>
        </p:nvSpPr>
        <p:spPr>
          <a:xfrm>
            <a:off x="12601575" y="7591425"/>
            <a:ext cx="1933575" cy="5314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A13F9F6-8A51-2CB9-DF12-8840B567AA63}"/>
              </a:ext>
            </a:extLst>
          </p:cNvPr>
          <p:cNvSpPr txBox="1"/>
          <p:nvPr/>
        </p:nvSpPr>
        <p:spPr>
          <a:xfrm>
            <a:off x="758309" y="1828706"/>
            <a:ext cx="11071018" cy="4385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Реализованное приложение дает следующие преимущества: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861</TotalTime>
  <Words>320</Words>
  <Application>Microsoft Office PowerPoint</Application>
  <PresentationFormat>Произвольный</PresentationFormat>
  <Paragraphs>96</Paragraphs>
  <Slides>11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6" baseType="lpstr">
      <vt:lpstr>Arial</vt:lpstr>
      <vt:lpstr>Barlow Bold</vt:lpstr>
      <vt:lpstr>Montserrat</vt:lpstr>
      <vt:lpstr>Aptos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Maxim Vysotsky</cp:lastModifiedBy>
  <cp:revision>18</cp:revision>
  <dcterms:created xsi:type="dcterms:W3CDTF">2025-05-11T21:36:33Z</dcterms:created>
  <dcterms:modified xsi:type="dcterms:W3CDTF">2025-05-25T18:39:05Z</dcterms:modified>
</cp:coreProperties>
</file>