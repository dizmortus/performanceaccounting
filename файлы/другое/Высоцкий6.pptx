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6" r:id="rId4"/>
    <p:sldId id="259" r:id="rId5"/>
    <p:sldId id="260" r:id="rId6"/>
    <p:sldId id="271" r:id="rId7"/>
    <p:sldId id="261" r:id="rId8"/>
    <p:sldId id="262" r:id="rId9"/>
    <p:sldId id="263" r:id="rId10"/>
    <p:sldId id="269" r:id="rId11"/>
    <p:sldId id="270" r:id="rId12"/>
    <p:sldId id="265" r:id="rId13"/>
    <p:sldId id="267" r:id="rId14"/>
    <p:sldId id="264" r:id="rId15"/>
  </p:sldIdLst>
  <p:sldSz cx="14630400" cy="8229600"/>
  <p:notesSz cx="8229600" cy="14630400"/>
  <p:embeddedFontLst>
    <p:embeddedFont>
      <p:font typeface="Barlow Bold" panose="020B0604020202020204" charset="0"/>
      <p:bold r:id="rId18"/>
    </p:embeddedFont>
    <p:embeddedFont>
      <p:font typeface="Montserrat" panose="00000500000000000000" pitchFamily="2" charset="-52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2DCB-672D-2078-DD10-16A5D368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8122B-88EA-6C5B-35E3-51E66232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96136-52FF-20C5-326B-4A374B1CC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C2D72-192B-1A68-EC2B-4E9674872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DD69-6F2A-1E17-C0AD-525ECF5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E917-B91E-4297-2350-5A01753A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E84E-1C46-1F1A-832B-FABCD1B0E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7822-F8E7-1B3F-273F-39C003CA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53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6.wdp"/><Relationship Id="rId5" Type="http://schemas.openxmlformats.org/officeDocument/2006/relationships/image" Target="../media/image36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8.wdp"/><Relationship Id="rId5" Type="http://schemas.openxmlformats.org/officeDocument/2006/relationships/image" Target="../media/image38.png"/><Relationship Id="rId4" Type="http://schemas.microsoft.com/office/2007/relationships/hdphoto" Target="../media/hdphoto7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40.png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572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Программное средство 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студентов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976" y="5812962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01790537-6F4E-D3C1-2185-1FDD32DF1C4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969238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963258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3074951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93AFCE1-66E4-FEC7-6F8D-5ACDDBFBD854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3</a:t>
            </a:r>
            <a:endParaRPr lang="ru-RU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308E525-2F8B-72A4-069A-529B9A6BC18D}"/>
              </a:ext>
            </a:extLst>
          </p:cNvPr>
          <p:cNvSpPr/>
          <p:nvPr/>
        </p:nvSpPr>
        <p:spPr>
          <a:xfrm>
            <a:off x="791051" y="394492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D4A68E74-CC97-B764-DDE2-3A00C7FF4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39" y="3974872"/>
            <a:ext cx="342067" cy="427553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97507688-D5E3-FB6E-67B0-240E9BEA0519}"/>
              </a:ext>
            </a:extLst>
          </p:cNvPr>
          <p:cNvSpPr/>
          <p:nvPr/>
        </p:nvSpPr>
        <p:spPr>
          <a:xfrm>
            <a:off x="1495068" y="4019341"/>
            <a:ext cx="5699552" cy="115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Разработка системы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формирования ведомостей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21AB149-977C-DF70-00D1-E870734C9895}"/>
              </a:ext>
            </a:extLst>
          </p:cNvPr>
          <p:cNvSpPr/>
          <p:nvPr/>
        </p:nvSpPr>
        <p:spPr>
          <a:xfrm>
            <a:off x="7483316" y="394492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1">
            <a:extLst>
              <a:ext uri="{FF2B5EF4-FFF2-40B4-BE49-F238E27FC236}">
                <a16:creationId xmlns:a16="http://schemas.microsoft.com/office/drawing/2014/main" id="{3D13A16A-B8BE-B5B9-C208-57DD545B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004" y="3974872"/>
            <a:ext cx="342067" cy="427553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81009805-56C8-83A9-7251-B6021BF7BDE8}"/>
              </a:ext>
            </a:extLst>
          </p:cNvPr>
          <p:cNvSpPr/>
          <p:nvPr/>
        </p:nvSpPr>
        <p:spPr>
          <a:xfrm>
            <a:off x="8187333" y="4019341"/>
            <a:ext cx="5427464" cy="86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Внедрение модуля учета оценок </a:t>
            </a:r>
          </a:p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посещаемости студентов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9B0BEC2-397F-AB75-CE74-0D4446724F75}"/>
              </a:ext>
            </a:extLst>
          </p:cNvPr>
          <p:cNvSpPr/>
          <p:nvPr/>
        </p:nvSpPr>
        <p:spPr>
          <a:xfrm>
            <a:off x="791051" y="493749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2">
            <a:extLst>
              <a:ext uri="{FF2B5EF4-FFF2-40B4-BE49-F238E27FC236}">
                <a16:creationId xmlns:a16="http://schemas.microsoft.com/office/drawing/2014/main" id="{FFA9C166-D9ED-2BA0-1ED4-A3704088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39" y="4967441"/>
            <a:ext cx="342067" cy="427553"/>
          </a:xfrm>
          <a:prstGeom prst="rect">
            <a:avLst/>
          </a:prstGeom>
        </p:spPr>
      </p:pic>
      <p:sp>
        <p:nvSpPr>
          <p:cNvPr id="29" name="Text 8">
            <a:extLst>
              <a:ext uri="{FF2B5EF4-FFF2-40B4-BE49-F238E27FC236}">
                <a16:creationId xmlns:a16="http://schemas.microsoft.com/office/drawing/2014/main" id="{F197BA31-4B90-A3CB-1381-FDA657193A58}"/>
              </a:ext>
            </a:extLst>
          </p:cNvPr>
          <p:cNvSpPr/>
          <p:nvPr/>
        </p:nvSpPr>
        <p:spPr>
          <a:xfrm>
            <a:off x="1495068" y="5011911"/>
            <a:ext cx="5626864" cy="71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Реализация сбора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визуализации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статистических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данных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DA377338-2D89-738D-1CB5-C094B2DB1D6B}"/>
              </a:ext>
            </a:extLst>
          </p:cNvPr>
          <p:cNvSpPr/>
          <p:nvPr/>
        </p:nvSpPr>
        <p:spPr>
          <a:xfrm>
            <a:off x="7483316" y="493749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9596C20F-9A09-C13C-92C3-43BCAB3F00C5}"/>
              </a:ext>
            </a:extLst>
          </p:cNvPr>
          <p:cNvSpPr/>
          <p:nvPr/>
        </p:nvSpPr>
        <p:spPr>
          <a:xfrm>
            <a:off x="8187333" y="5011911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Автоматизация рассылки ведомостей по электронной почте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249C27E9-D879-18C2-3408-EDB7B940978E}"/>
              </a:ext>
            </a:extLst>
          </p:cNvPr>
          <p:cNvSpPr/>
          <p:nvPr/>
        </p:nvSpPr>
        <p:spPr>
          <a:xfrm>
            <a:off x="791051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6" name="Image 4">
            <a:extLst>
              <a:ext uri="{FF2B5EF4-FFF2-40B4-BE49-F238E27FC236}">
                <a16:creationId xmlns:a16="http://schemas.microsoft.com/office/drawing/2014/main" id="{5C9E6653-D6C2-FB8C-B5D0-2A9B04ECD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39" y="5986230"/>
            <a:ext cx="342067" cy="427553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0D02034C-D67E-62F1-97AE-B8A87255BCF0}"/>
              </a:ext>
            </a:extLst>
          </p:cNvPr>
          <p:cNvSpPr/>
          <p:nvPr/>
        </p:nvSpPr>
        <p:spPr>
          <a:xfrm>
            <a:off x="1495068" y="6030699"/>
            <a:ext cx="5717500" cy="75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Обеспечение защищённого доступа к учебной информации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49C9CCCD-7BAC-2391-8A14-3B324439594E}"/>
              </a:ext>
            </a:extLst>
          </p:cNvPr>
          <p:cNvSpPr/>
          <p:nvPr/>
        </p:nvSpPr>
        <p:spPr>
          <a:xfrm>
            <a:off x="7483316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B2A723E3-8785-89CB-98C2-6F8A972B8E4C}"/>
              </a:ext>
            </a:extLst>
          </p:cNvPr>
          <p:cNvSpPr/>
          <p:nvPr/>
        </p:nvSpPr>
        <p:spPr>
          <a:xfrm>
            <a:off x="8187333" y="6030700"/>
            <a:ext cx="5427464" cy="94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интуитивно понятного </a:t>
            </a: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пользовательского интерфейса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43" name="Image 3">
            <a:extLst>
              <a:ext uri="{FF2B5EF4-FFF2-40B4-BE49-F238E27FC236}">
                <a16:creationId xmlns:a16="http://schemas.microsoft.com/office/drawing/2014/main" id="{3A08A056-8ABB-6AEE-3390-ED1ABD381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5945" y="4964941"/>
            <a:ext cx="342067" cy="427553"/>
          </a:xfrm>
          <a:prstGeom prst="rect">
            <a:avLst/>
          </a:prstGeom>
        </p:spPr>
      </p:pic>
      <p:pic>
        <p:nvPicPr>
          <p:cNvPr id="44" name="Image 5">
            <a:extLst>
              <a:ext uri="{FF2B5EF4-FFF2-40B4-BE49-F238E27FC236}">
                <a16:creationId xmlns:a16="http://schemas.microsoft.com/office/drawing/2014/main" id="{208EE3F0-1941-D14C-D932-F332C0237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945" y="5995040"/>
            <a:ext cx="342067" cy="4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приложения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DEB5A46F-EAFA-D7DA-37C5-96ED568A351A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D7A59BA-80E2-2D02-2118-8ABE475DC76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AFE-84B6-C1F5-1443-A822D6B8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DA73B1-C803-C608-D548-FC8F053C1B3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9201C2-F972-4ED7-B977-4A630D49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680"/>
            <a:ext cx="7200016" cy="8016240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0D13549-BC7D-AD59-8069-04CDA46A90FE}"/>
              </a:ext>
            </a:extLst>
          </p:cNvPr>
          <p:cNvSpPr/>
          <p:nvPr/>
        </p:nvSpPr>
        <p:spPr>
          <a:xfrm>
            <a:off x="427355" y="161775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783A967-11BA-1CAD-EE5E-A90F837C22CC}"/>
              </a:ext>
            </a:extLst>
          </p:cNvPr>
          <p:cNvSpPr/>
          <p:nvPr/>
        </p:nvSpPr>
        <p:spPr>
          <a:xfrm>
            <a:off x="755761" y="201296"/>
            <a:ext cx="6559440" cy="15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Варианты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34A94-1C33-53F2-E423-802DA8BFB34B}"/>
              </a:ext>
            </a:extLst>
          </p:cNvPr>
          <p:cNvSpPr txBox="1"/>
          <p:nvPr/>
        </p:nvSpPr>
        <p:spPr>
          <a:xfrm>
            <a:off x="755760" y="183410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</a:t>
            </a:r>
            <a:r>
              <a:rPr lang="ru-RU" sz="2000">
                <a:solidFill>
                  <a:srgbClr val="384653"/>
                </a:solidFill>
                <a:latin typeface="Montserrat" pitchFamily="34" charset="0"/>
              </a:rPr>
              <a:t>просматривает статистику. </a:t>
            </a:r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5EF42D7-A5FC-AD64-FBC8-E101AE5D664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30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18E321D-4909-E884-BA83-6F5E8657BA8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8EDCDC6-97A0-5B07-9A74-D785EBA9F36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ACCAD9-4BC5-6ED4-D702-6C3808E0B61A}"/>
              </a:ext>
            </a:extLst>
          </p:cNvPr>
          <p:cNvSpPr/>
          <p:nvPr/>
        </p:nvSpPr>
        <p:spPr>
          <a:xfrm>
            <a:off x="200406" y="2902367"/>
            <a:ext cx="4833818" cy="3267321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5237432" y="643993"/>
            <a:ext cx="8510954" cy="72872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240700" y="698432"/>
            <a:ext cx="4969329" cy="2430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входа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восстановления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пароля</a:t>
            </a:r>
            <a:endParaRPr lang="en-US" sz="44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376394" y="3307469"/>
            <a:ext cx="4657830" cy="263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входа в систему 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восстановления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пароля, осуществляющие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восстановление в три этапа: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Отправка кода на почту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Верификация кода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нового пароля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D20B4-C0AF-EDF7-3D38-3E17B7A92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10" b="95434" l="1887" r="96792">
                        <a14:foregroundMark x1="7925" y1="10046" x2="34906" y2="51598"/>
                        <a14:foregroundMark x1="34906" y1="51598" x2="36604" y2="71461"/>
                        <a14:foregroundMark x1="36604" y1="71461" x2="48868" y2="73288"/>
                        <a14:foregroundMark x1="18113" y1="84703" x2="5094" y2="63699"/>
                        <a14:foregroundMark x1="5094" y1="63699" x2="8491" y2="18037"/>
                        <a14:foregroundMark x1="8491" y1="18037" x2="18868" y2="34703"/>
                        <a14:foregroundMark x1="18868" y1="34703" x2="19623" y2="92694"/>
                        <a14:foregroundMark x1="19623" y1="92694" x2="7736" y2="88584"/>
                        <a14:foregroundMark x1="6415" y1="94292" x2="51132" y2="94292"/>
                        <a14:foregroundMark x1="51132" y1="94292" x2="87736" y2="95890"/>
                        <a14:foregroundMark x1="87736" y1="95890" x2="95283" y2="87443"/>
                        <a14:foregroundMark x1="95283" y1="87443" x2="94340" y2="15753"/>
                        <a14:foregroundMark x1="94340" y1="15753" x2="86604" y2="4795"/>
                        <a14:foregroundMark x1="86604" y1="4795" x2="6792" y2="6621"/>
                        <a14:foregroundMark x1="6792" y1="6621" x2="2264" y2="33562"/>
                        <a14:foregroundMark x1="2264" y1="33562" x2="6604" y2="95890"/>
                        <a14:foregroundMark x1="3585" y1="9589" x2="17170" y2="4566"/>
                        <a14:foregroundMark x1="17170" y1="4566" x2="40755" y2="4110"/>
                        <a14:foregroundMark x1="89623" y1="5479" x2="94528" y2="42237"/>
                        <a14:foregroundMark x1="94528" y1="42237" x2="94151" y2="89498"/>
                        <a14:foregroundMark x1="96792" y1="90411" x2="96604" y2="57534"/>
                        <a14:foregroundMark x1="91698" y1="35160" x2="63019" y2="38356"/>
                        <a14:foregroundMark x1="63019" y1="38356" x2="50943" y2="49543"/>
                        <a14:foregroundMark x1="50943" y1="49543" x2="45094" y2="34703"/>
                        <a14:foregroundMark x1="45094" y1="34703" x2="62642" y2="62785"/>
                        <a14:foregroundMark x1="62642" y1="62785" x2="50566" y2="85616"/>
                        <a14:foregroundMark x1="50566" y1="85616" x2="38679" y2="85160"/>
                        <a14:foregroundMark x1="38679" y1="85160" x2="38679" y2="84932"/>
                        <a14:foregroundMark x1="81132" y1="79909" x2="57925" y2="61644"/>
                        <a14:foregroundMark x1="57925" y1="61644" x2="43774" y2="65068"/>
                        <a14:foregroundMark x1="43774" y1="65068" x2="55660" y2="68265"/>
                        <a14:foregroundMark x1="72453" y1="77854" x2="60755" y2="77854"/>
                        <a14:foregroundMark x1="60755" y1="77854" x2="42642" y2="54795"/>
                        <a14:foregroundMark x1="42642" y1="54795" x2="44340" y2="36073"/>
                        <a14:foregroundMark x1="44340" y1="36073" x2="73585" y2="28539"/>
                        <a14:foregroundMark x1="75660" y1="49772" x2="33208" y2="22831"/>
                        <a14:foregroundMark x1="33208" y1="22831" x2="80189" y2="29224"/>
                        <a14:foregroundMark x1="80189" y1="29224" x2="74528" y2="30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0061" y="650983"/>
            <a:ext cx="4954188" cy="409421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B3ABFB-1802-092F-0A39-4D9D3A2D7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66" b="94612" l="3178" r="94579">
                        <a14:foregroundMark x1="6355" y1="9698" x2="35327" y2="15733"/>
                        <a14:foregroundMark x1="35327" y1="15733" x2="40374" y2="14655"/>
                        <a14:foregroundMark x1="89720" y1="11207" x2="91028" y2="15517"/>
                        <a14:foregroundMark x1="93458" y1="34698" x2="93645" y2="36422"/>
                        <a14:foregroundMark x1="93645" y1="39871" x2="93458" y2="43966"/>
                        <a14:foregroundMark x1="93271" y1="51509" x2="92336" y2="67026"/>
                        <a14:foregroundMark x1="92336" y1="67026" x2="85047" y2="85345"/>
                        <a14:foregroundMark x1="85047" y1="85345" x2="70280" y2="90948"/>
                        <a14:foregroundMark x1="70280" y1="90948" x2="18692" y2="91810"/>
                        <a14:foregroundMark x1="18692" y1="91810" x2="8411" y2="86853"/>
                        <a14:foregroundMark x1="8411" y1="86853" x2="3551" y2="66379"/>
                        <a14:foregroundMark x1="3551" y1="66379" x2="7290" y2="18750"/>
                        <a14:foregroundMark x1="51963" y1="14009" x2="88972" y2="10345"/>
                        <a14:foregroundMark x1="94206" y1="9914" x2="93458" y2="26940"/>
                        <a14:foregroundMark x1="95327" y1="48060" x2="95140" y2="42241"/>
                        <a14:foregroundMark x1="68411" y1="8190" x2="58692" y2="6466"/>
                        <a14:foregroundMark x1="37757" y1="77371" x2="40000" y2="75862"/>
                        <a14:foregroundMark x1="43364" y1="81250" x2="43364" y2="81250"/>
                        <a14:foregroundMark x1="34206" y1="81897" x2="66729" y2="80603"/>
                        <a14:foregroundMark x1="32897" y1="19397" x2="22430" y2="16379"/>
                        <a14:foregroundMark x1="41869" y1="57112" x2="61869" y2="57759"/>
                        <a14:foregroundMark x1="89720" y1="89009" x2="80935" y2="90086"/>
                        <a14:foregroundMark x1="92897" y1="85776" x2="84299" y2="90517"/>
                        <a14:foregroundMark x1="84299" y1="90517" x2="83738" y2="90517"/>
                        <a14:foregroundMark x1="59626" y1="81897" x2="48411" y2="81466"/>
                        <a14:foregroundMark x1="43738" y1="94612" x2="43738" y2="94612"/>
                        <a14:foregroundMark x1="27477" y1="81034" x2="23551" y2="786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6543" y="2563973"/>
            <a:ext cx="3482059" cy="301995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4E0FEEE-7C58-C58E-41B1-E2BC18AB8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94" b="91906" l="4982" r="94096">
                        <a14:foregroundMark x1="5166" y1="9922" x2="5535" y2="25587"/>
                        <a14:foregroundMark x1="5535" y1="25587" x2="5166" y2="28198"/>
                        <a14:foregroundMark x1="6458" y1="38381" x2="6458" y2="39687"/>
                        <a14:foregroundMark x1="6273" y1="42820" x2="5904" y2="45953"/>
                        <a14:foregroundMark x1="6089" y1="50653" x2="5904" y2="56658"/>
                        <a14:foregroundMark x1="6089" y1="60313" x2="6273" y2="65796"/>
                        <a14:foregroundMark x1="6273" y1="75718" x2="11624" y2="89295"/>
                        <a14:foregroundMark x1="11624" y1="89295" x2="37085" y2="89295"/>
                        <a14:foregroundMark x1="37085" y1="89295" x2="56642" y2="88512"/>
                        <a14:foregroundMark x1="56642" y1="88512" x2="80074" y2="89034"/>
                        <a14:foregroundMark x1="80074" y1="89034" x2="92804" y2="83812"/>
                        <a14:foregroundMark x1="92804" y1="83812" x2="94834" y2="17493"/>
                        <a14:foregroundMark x1="94834" y1="17493" x2="85240" y2="8877"/>
                        <a14:foregroundMark x1="85240" y1="8877" x2="5351" y2="9661"/>
                        <a14:foregroundMark x1="5351" y1="9661" x2="5535" y2="16188"/>
                        <a14:foregroundMark x1="14576" y1="51436" x2="33026" y2="37076"/>
                        <a14:foregroundMark x1="33026" y1="37076" x2="82103" y2="36815"/>
                        <a14:foregroundMark x1="82103" y1="36815" x2="63284" y2="58747"/>
                        <a14:foregroundMark x1="63284" y1="58747" x2="36716" y2="51175"/>
                        <a14:foregroundMark x1="36716" y1="51175" x2="36716" y2="45692"/>
                        <a14:foregroundMark x1="88192" y1="31854" x2="90590" y2="65535"/>
                        <a14:foregroundMark x1="92435" y1="34204" x2="94280" y2="16188"/>
                        <a14:foregroundMark x1="25461" y1="8616" x2="26384" y2="8355"/>
                        <a14:foregroundMark x1="17897" y1="22193" x2="17897" y2="22193"/>
                        <a14:foregroundMark x1="19557" y1="23238" x2="17343" y2="21149"/>
                        <a14:foregroundMark x1="84502" y1="40470" x2="88192" y2="42820"/>
                        <a14:foregroundMark x1="75830" y1="91906" x2="70480" y2="911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51435" y="5456585"/>
            <a:ext cx="3511840" cy="24816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9E95C6C-CB14-04AC-AE6A-8AE1E6F4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2968" r="96104">
                        <a14:foregroundMark x1="5195" y1="15484" x2="5566" y2="83226"/>
                        <a14:foregroundMark x1="5566" y1="83226" x2="18553" y2="84839"/>
                        <a14:foregroundMark x1="18553" y1="84839" x2="49165" y2="84516"/>
                        <a14:foregroundMark x1="49165" y1="84516" x2="85900" y2="86129"/>
                        <a14:foregroundMark x1="85900" y1="86129" x2="94249" y2="78387"/>
                        <a14:foregroundMark x1="94249" y1="78387" x2="95547" y2="33871"/>
                        <a14:foregroundMark x1="95547" y1="33871" x2="93878" y2="16452"/>
                        <a14:foregroundMark x1="93878" y1="16452" x2="13729" y2="14839"/>
                        <a14:foregroundMark x1="13729" y1="14839" x2="7978" y2="10000"/>
                        <a14:foregroundMark x1="21521" y1="22258" x2="29870" y2="33871"/>
                        <a14:foregroundMark x1="29870" y1="33871" x2="64193" y2="34839"/>
                        <a14:foregroundMark x1="64193" y1="34839" x2="81262" y2="32258"/>
                        <a14:foregroundMark x1="81262" y1="32258" x2="84045" y2="36774"/>
                        <a14:foregroundMark x1="91837" y1="32903" x2="93321" y2="59032"/>
                        <a14:foregroundMark x1="96104" y1="46774" x2="96289" y2="45161"/>
                        <a14:foregroundMark x1="2968" y1="54516" x2="2968" y2="54516"/>
                        <a14:foregroundMark x1="10575" y1="27097" x2="10575" y2="270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94249" y="643993"/>
            <a:ext cx="3524353" cy="202699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BCFBC5F-3E20-EC89-95AE-BDA47EC89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8863" y="5123517"/>
            <a:ext cx="4716584" cy="2619324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35C23EDC-818E-4330-A9F7-4A7EA8C3E24E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9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A92C-C6EC-C3C0-D2BA-58FCFA7D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DF7B7A-2C0C-0016-DD55-5A1F71DAB60F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53A39A-E58A-1C52-CF28-C4BC768FAEF5}"/>
              </a:ext>
            </a:extLst>
          </p:cNvPr>
          <p:cNvSpPr/>
          <p:nvPr/>
        </p:nvSpPr>
        <p:spPr>
          <a:xfrm>
            <a:off x="5581649" y="1113006"/>
            <a:ext cx="8083664" cy="6295009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2DE06BF-39EC-FC4A-DE16-4EBD2DF7AE97}"/>
              </a:ext>
            </a:extLst>
          </p:cNvPr>
          <p:cNvSpPr/>
          <p:nvPr/>
        </p:nvSpPr>
        <p:spPr>
          <a:xfrm>
            <a:off x="222585" y="930191"/>
            <a:ext cx="5739516" cy="1531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выбора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поиска группы</a:t>
            </a:r>
            <a:endParaRPr lang="en-US" sz="4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7D5EC5-78F2-FFC9-8629-5212485FC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67" b="98608" l="0" r="89362">
                        <a14:foregroundMark x1="3901" y1="4573" x2="34752" y2="10537"/>
                        <a14:foregroundMark x1="34752" y1="10537" x2="79078" y2="8549"/>
                        <a14:foregroundMark x1="79078" y1="8549" x2="85106" y2="20875"/>
                        <a14:foregroundMark x1="85106" y1="20875" x2="83333" y2="38171"/>
                        <a14:foregroundMark x1="83333" y1="38171" x2="84397" y2="41153"/>
                        <a14:foregroundMark x1="31206" y1="27435" x2="15603" y2="7555"/>
                        <a14:foregroundMark x1="15603" y1="7555" x2="34043" y2="5964"/>
                        <a14:foregroundMark x1="34043" y1="5964" x2="61702" y2="6759"/>
                        <a14:foregroundMark x1="11348" y1="10934" x2="12057" y2="37376"/>
                        <a14:foregroundMark x1="9929" y1="48708" x2="3901" y2="25845"/>
                        <a14:foregroundMark x1="13830" y1="84095" x2="32624" y2="95427"/>
                        <a14:foregroundMark x1="32624" y1="95427" x2="84752" y2="96024"/>
                        <a14:foregroundMark x1="78723" y1="99602" x2="36879" y2="99602"/>
                        <a14:foregroundMark x1="36879" y1="99602" x2="10993" y2="95427"/>
                        <a14:foregroundMark x1="10993" y1="95427" x2="0" y2="59642"/>
                        <a14:foregroundMark x1="57447" y1="98012" x2="57447" y2="98608"/>
                        <a14:foregroundMark x1="39716" y1="22863" x2="37943" y2="19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3302" y="1113007"/>
            <a:ext cx="3481678" cy="621022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B622984-C795-D3AD-D7CC-0D7519F45B70}"/>
              </a:ext>
            </a:extLst>
          </p:cNvPr>
          <p:cNvSpPr/>
          <p:nvPr/>
        </p:nvSpPr>
        <p:spPr>
          <a:xfrm>
            <a:off x="200406" y="2699817"/>
            <a:ext cx="4833818" cy="4689057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BACA9D5-841F-C7DA-630D-276B3EAF1E19}"/>
              </a:ext>
            </a:extLst>
          </p:cNvPr>
          <p:cNvSpPr/>
          <p:nvPr/>
        </p:nvSpPr>
        <p:spPr>
          <a:xfrm>
            <a:off x="376394" y="3227045"/>
            <a:ext cx="4657830" cy="407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Боковая панель для выбора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группы в одном из двух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режимов: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Текущие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Архив</a:t>
            </a:r>
          </a:p>
          <a:p>
            <a:pPr algn="l">
              <a:lnSpc>
                <a:spcPts val="2700"/>
              </a:lnSpc>
            </a:pP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поиска группы, 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осуществляющая поиск по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студенту, дисциплине и 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Номеру группы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23F78E8-E3C2-88F9-DB3C-7C6C99BE9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87" b="94929" l="5417" r="95000">
                        <a14:foregroundMark x1="16250" y1="6498" x2="30833" y2="18225"/>
                        <a14:foregroundMark x1="30833" y1="18225" x2="32083" y2="20602"/>
                        <a14:foregroundMark x1="25833" y1="6339" x2="46667" y2="8716"/>
                        <a14:foregroundMark x1="46667" y1="8716" x2="67083" y2="28051"/>
                        <a14:foregroundMark x1="67083" y1="28051" x2="50000" y2="81141"/>
                        <a14:foregroundMark x1="50000" y1="81141" x2="26667" y2="80032"/>
                        <a14:foregroundMark x1="26667" y1="80032" x2="18750" y2="75436"/>
                        <a14:foregroundMark x1="12500" y1="88273" x2="11042" y2="58479"/>
                        <a14:foregroundMark x1="6458" y1="33439" x2="5417" y2="24881"/>
                        <a14:foregroundMark x1="9583" y1="6815" x2="35417" y2="4437"/>
                        <a14:foregroundMark x1="35417" y1="4437" x2="38958" y2="4437"/>
                        <a14:foregroundMark x1="81458" y1="7290" x2="90000" y2="7607"/>
                        <a14:foregroundMark x1="90625" y1="7290" x2="92708" y2="5388"/>
                        <a14:foregroundMark x1="85833" y1="5388" x2="10208" y2="4913"/>
                        <a14:foregroundMark x1="10208" y1="4913" x2="9375" y2="9826"/>
                        <a14:foregroundMark x1="8125" y1="8875" x2="9167" y2="3803"/>
                        <a14:foregroundMark x1="23333" y1="7607" x2="28125" y2="7607"/>
                        <a14:foregroundMark x1="7708" y1="6973" x2="5625" y2="9826"/>
                        <a14:foregroundMark x1="93750" y1="7132" x2="93542" y2="6815"/>
                        <a14:foregroundMark x1="95000" y1="5071" x2="93542" y2="5705"/>
                        <a14:foregroundMark x1="93542" y1="9192" x2="78542" y2="11252"/>
                        <a14:foregroundMark x1="78542" y1="11252" x2="70625" y2="10460"/>
                        <a14:foregroundMark x1="88958" y1="12678" x2="76250" y2="13946"/>
                        <a14:foregroundMark x1="18125" y1="12044" x2="10625" y2="13312"/>
                        <a14:foregroundMark x1="69792" y1="70998" x2="55208" y2="79556"/>
                        <a14:foregroundMark x1="55208" y1="79556" x2="71458" y2="74010"/>
                        <a14:foregroundMark x1="71458" y1="74010" x2="74167" y2="64976"/>
                        <a14:foregroundMark x1="74167" y1="64976" x2="74583" y2="66244"/>
                        <a14:foregroundMark x1="79583" y1="88431" x2="28958" y2="949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7099" y="1152948"/>
            <a:ext cx="4758213" cy="6255068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E98B6E69-7F0A-BA70-11AA-8C0BD7E31ADD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96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97DA-CC2C-8C82-1BEF-250870F4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6C3CCC-5E18-3EBA-D24B-8F9395C27E34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CE4E8C-E878-9B1E-C695-2DFA8AA10B20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0B924B-71C4-4A36-FB15-55FD9BB275C1}"/>
              </a:ext>
            </a:extLst>
          </p:cNvPr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4E080B-154A-92EB-E73A-FE84AB31A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835D22-215F-0005-FC3F-A7A509A90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B107B2-7DF4-27F8-D83F-A963284C9FE9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745A34-4D0B-D40F-F337-20F5BBB35A6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6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85F8E3-CAF8-08AD-5D2F-2AF3A65F5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06" b="99041" l="1632" r="98368">
                        <a14:foregroundMark x1="2176" y1="3945" x2="6682" y2="1919"/>
                        <a14:foregroundMark x1="6682" y1="1919" x2="12432" y2="1812"/>
                        <a14:foregroundMark x1="12432" y1="1812" x2="28516" y2="2665"/>
                        <a14:foregroundMark x1="28516" y1="2665" x2="37529" y2="2559"/>
                        <a14:foregroundMark x1="37529" y1="2559" x2="58042" y2="2665"/>
                        <a14:foregroundMark x1="58042" y1="2665" x2="89200" y2="1812"/>
                        <a14:foregroundMark x1="89200" y1="1812" x2="94095" y2="2878"/>
                        <a14:foregroundMark x1="94095" y1="2878" x2="97824" y2="6183"/>
                        <a14:foregroundMark x1="97824" y1="6183" x2="97280" y2="31876"/>
                        <a14:foregroundMark x1="95260" y1="31023" x2="93784" y2="12687"/>
                        <a14:foregroundMark x1="93784" y1="12687" x2="97203" y2="1812"/>
                        <a14:foregroundMark x1="82984" y1="9062" x2="3807" y2="3838"/>
                        <a14:foregroundMark x1="3807" y1="3838" x2="1787" y2="37633"/>
                        <a14:foregroundMark x1="1787" y1="37633" x2="2020" y2="50320"/>
                        <a14:foregroundMark x1="2409" y1="57463" x2="10256" y2="43817"/>
                        <a14:foregroundMark x1="10256" y1="43817" x2="8702" y2="60768"/>
                        <a14:foregroundMark x1="8702" y1="60768" x2="3963" y2="70576"/>
                        <a14:foregroundMark x1="3963" y1="70576" x2="1632" y2="93284"/>
                        <a14:foregroundMark x1="1632" y1="93284" x2="7848" y2="96162"/>
                        <a14:foregroundMark x1="7848" y1="96162" x2="9091" y2="96162"/>
                        <a14:foregroundMark x1="10567" y1="97548" x2="24942" y2="99147"/>
                        <a14:foregroundMark x1="24942" y1="99147" x2="29915" y2="97974"/>
                        <a14:foregroundMark x1="30769" y1="99041" x2="39782" y2="98827"/>
                        <a14:foregroundMark x1="39782" y1="98827" x2="44833" y2="98934"/>
                        <a14:foregroundMark x1="44833" y1="98934" x2="54934" y2="98614"/>
                        <a14:foregroundMark x1="54934" y1="98614" x2="60839" y2="98721"/>
                        <a14:foregroundMark x1="60839" y1="98721" x2="67055" y2="98614"/>
                        <a14:foregroundMark x1="67055" y1="98614" x2="89588" y2="99147"/>
                        <a14:foregroundMark x1="89588" y1="99147" x2="95960" y2="98401"/>
                        <a14:foregroundMark x1="95960" y1="98401" x2="98368" y2="93070"/>
                        <a14:foregroundMark x1="98368" y1="93070" x2="97902" y2="28891"/>
                        <a14:foregroundMark x1="89977" y1="14925" x2="91298" y2="8209"/>
                        <a14:foregroundMark x1="91298" y1="8209" x2="91686" y2="7676"/>
                        <a14:foregroundMark x1="97280" y1="45629" x2="97980" y2="389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894" y="1482024"/>
            <a:ext cx="8734983" cy="6366289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6D40E70-658F-D68B-0862-D4B3B6CA63B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1265555" y="1418209"/>
            <a:ext cx="11745595" cy="6519989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1265556" y="246067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1265555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и электронное сообщение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63" y="1545203"/>
            <a:ext cx="4438706" cy="627698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6" y="1546499"/>
            <a:ext cx="4438706" cy="62769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26" y="4468329"/>
            <a:ext cx="4438706" cy="3353859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CF97F98-E1CC-4870-2A93-40A71D29290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2937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1" y="4613221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2261" y="7453575"/>
            <a:ext cx="3181221" cy="702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Экономия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времени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01" y="4613221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1607" y="7474055"/>
            <a:ext cx="4305550" cy="75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Локальное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развертывание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511" y="4613221"/>
            <a:ext cx="4190762" cy="259008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654874" y="3935828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84BF052-C31A-FB05-3B0B-EE9509653ACF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14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22296-3667-4F63-8F7C-CF22FF092E8A}"/>
              </a:ext>
            </a:extLst>
          </p:cNvPr>
          <p:cNvSpPr txBox="1"/>
          <p:nvPr/>
        </p:nvSpPr>
        <p:spPr>
          <a:xfrm>
            <a:off x="707491" y="944717"/>
            <a:ext cx="1292812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ts val="2700"/>
              </a:lnSpc>
              <a:buNone/>
              <a:defRPr sz="24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/>
              <a:t>Достигнута основная цель – разработано и реализовано специализированное клиент-серверное веб-приложение для автоматизации процессов учёта и анализа успеваемости студентов.</a:t>
            </a:r>
          </a:p>
        </p:txBody>
      </p:sp>
      <p:sp>
        <p:nvSpPr>
          <p:cNvPr id="10" name="Text 5"/>
          <p:cNvSpPr/>
          <p:nvPr/>
        </p:nvSpPr>
        <p:spPr>
          <a:xfrm>
            <a:off x="9821387" y="7474055"/>
            <a:ext cx="4190762" cy="43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Минимизация ошибок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84425-B2A2-E0C0-8B2A-2E12CD983688}"/>
              </a:ext>
            </a:extLst>
          </p:cNvPr>
          <p:cNvSpPr txBox="1"/>
          <p:nvPr/>
        </p:nvSpPr>
        <p:spPr>
          <a:xfrm>
            <a:off x="707491" y="2362428"/>
            <a:ext cx="13113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Успешно решены задачи автоматического формирования ведомостей, учёта посещаемости и оценок, аналитики по различным параметрам, рассылки отчётной документации и безопасного хранения данных.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482</Words>
  <Application>Microsoft Office PowerPoint</Application>
  <PresentationFormat>Произвольный</PresentationFormat>
  <Paragraphs>139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Barlow Bold</vt:lpstr>
      <vt:lpstr>Arial</vt:lpstr>
      <vt:lpstr>Aptos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28</cp:revision>
  <dcterms:created xsi:type="dcterms:W3CDTF">2025-05-11T21:36:33Z</dcterms:created>
  <dcterms:modified xsi:type="dcterms:W3CDTF">2025-06-13T01:01:28Z</dcterms:modified>
</cp:coreProperties>
</file>