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6" r:id="rId4"/>
    <p:sldId id="259" r:id="rId5"/>
    <p:sldId id="260" r:id="rId6"/>
    <p:sldId id="271" r:id="rId7"/>
    <p:sldId id="261" r:id="rId8"/>
    <p:sldId id="262" r:id="rId9"/>
    <p:sldId id="263" r:id="rId10"/>
    <p:sldId id="269" r:id="rId11"/>
    <p:sldId id="270" r:id="rId12"/>
    <p:sldId id="265" r:id="rId13"/>
    <p:sldId id="267" r:id="rId14"/>
    <p:sldId id="264" r:id="rId15"/>
  </p:sldIdLst>
  <p:sldSz cx="14630400" cy="8229600"/>
  <p:notesSz cx="8229600" cy="14630400"/>
  <p:embeddedFontLst>
    <p:embeddedFont>
      <p:font typeface="Barlow Bold" panose="020B0604020202020204" charset="0"/>
      <p:bold r:id="rId18"/>
    </p:embeddedFont>
    <p:embeddedFont>
      <p:font typeface="Montserrat" panose="00000500000000000000" pitchFamily="2" charset="-52"/>
      <p:regular r:id="rId19"/>
      <p:bold r:id="rId20"/>
      <p:italic r:id="rId21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9F7"/>
    <a:srgbClr val="C0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70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0721B5-A21B-5FA5-6B99-0E02FCEC7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E7538D3-9C3C-BE40-5E12-11CE8F852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8EA51-91C7-4E71-9BBE-1308E0D83792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AC34A0-EE3A-D61F-F1B3-E27147713D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CD7D82-DDB0-91EB-1DC5-CFB12C555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8F592-CDE7-4DE7-9EA3-E9EB83A4CB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09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1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67E-A222-A789-85D4-C87C5B9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EBD9-E5D4-38D7-3D39-EED8090E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E1993-9EFE-C342-18CA-F9E6FF3AD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3753-55B6-D30A-B263-F271F7ECA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7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2DCB-672D-2078-DD10-16A5D368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8122B-88EA-6C5B-35E3-51E662328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96136-52FF-20C5-326B-4A374B1CC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C2D72-192B-1A68-EC2B-4E9674872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DD69-6F2A-1E17-C0AD-525ECF5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E917-B91E-4297-2350-5A01753A2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4E84E-1C46-1F1A-832B-FABCD1B0E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27822-F8E7-1B3F-273F-39C003CAA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53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47D3-10D2-1E70-B926-B285F00D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161DE-317E-92F1-B249-91D85DF63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F5E72-3C56-43DF-B453-AC235874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42015-761C-9A86-7EA0-83A1B5993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48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A814-0DE1-A0E5-54D5-8E91EB76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523F5-9349-440F-59DB-DF90642DA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F0B4D-3A5E-8C03-5B78-A19A2AD5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7C91D-F84A-E9C6-6E6D-1987C6562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2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microsoft.com/office/2007/relationships/hdphoto" Target="../media/hdphoto6.wdp"/><Relationship Id="rId5" Type="http://schemas.openxmlformats.org/officeDocument/2006/relationships/image" Target="../media/image36.pn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microsoft.com/office/2007/relationships/hdphoto" Target="../media/hdphoto8.wdp"/><Relationship Id="rId5" Type="http://schemas.openxmlformats.org/officeDocument/2006/relationships/image" Target="../media/image38.png"/><Relationship Id="rId4" Type="http://schemas.microsoft.com/office/2007/relationships/hdphoto" Target="../media/hdphoto7.wdp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0.wdp"/><Relationship Id="rId5" Type="http://schemas.openxmlformats.org/officeDocument/2006/relationships/image" Target="../media/image40.png"/><Relationship Id="rId4" Type="http://schemas.microsoft.com/office/2007/relationships/hdphoto" Target="../media/hdphoto9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5729"/>
            <a:ext cx="7627382" cy="287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Программное средство а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втоматизаци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процессов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учета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анализа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успеваемости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студентов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58309" y="5702141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976" y="5812962"/>
            <a:ext cx="7973709" cy="1552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Выполнил: Высоцкий Максим Леонидович,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 группы 10702121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Руководитель: </a:t>
            </a:r>
            <a:r>
              <a:rPr lang="ru-RU" sz="2400" dirty="0" err="1">
                <a:solidFill>
                  <a:srgbClr val="384653"/>
                </a:solidFill>
                <a:latin typeface="Montserrat" pitchFamily="34" charset="0"/>
              </a:rPr>
              <a:t>Сидорик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Валерий Владимирович,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к.ф.-м.н., доцент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6426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традиционных методов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544550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Временные затраты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1462326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Ручная обработка требует много времени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4707374" y="351460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62" y="3544550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11391" y="3589020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Вероятность ошибок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5411391" y="4431387"/>
            <a:ext cx="2974300" cy="1024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Человеческий фактор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снижает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достоверность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758309" y="6118622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997" y="6148566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2326" y="6193036"/>
            <a:ext cx="29448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Сложность анализа</a:t>
            </a:r>
            <a:endParaRPr lang="en-US" sz="3200" dirty="0"/>
          </a:p>
        </p:txBody>
      </p:sp>
      <p:sp>
        <p:nvSpPr>
          <p:cNvPr id="15" name="Text 9"/>
          <p:cNvSpPr/>
          <p:nvPr/>
        </p:nvSpPr>
        <p:spPr>
          <a:xfrm>
            <a:off x="1462326" y="6679168"/>
            <a:ext cx="6923365" cy="77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Затруднен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сбор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анализ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статистических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данных</a:t>
            </a:r>
            <a:endParaRPr lang="en-US" sz="2400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01790537-6F4E-D3C1-2185-1FDD32DF1C4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AC92-C8C3-95F5-A884-FEC0CC0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672D2E-C69C-DB91-69FC-0E155B10FE0D}"/>
              </a:ext>
            </a:extLst>
          </p:cNvPr>
          <p:cNvSpPr/>
          <p:nvPr/>
        </p:nvSpPr>
        <p:spPr>
          <a:xfrm>
            <a:off x="791051" y="969238"/>
            <a:ext cx="76597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Цел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ь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и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задачи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разработки</a:t>
            </a:r>
            <a:endParaRPr lang="en-US" sz="4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D2DA552-59C7-E8DA-7E63-CC4B992E991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CBB72C5-31A4-E213-7C55-5DFB20030318}"/>
              </a:ext>
            </a:extLst>
          </p:cNvPr>
          <p:cNvSpPr/>
          <p:nvPr/>
        </p:nvSpPr>
        <p:spPr>
          <a:xfrm>
            <a:off x="791051" y="1963258"/>
            <a:ext cx="1327329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700"/>
              </a:lnSpc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Цель: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изучение традиционных методов, разработка и реализация программного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средства автоматизации процессов учета и анализа успеваемости студентов.</a:t>
            </a:r>
            <a:endParaRPr lang="en-US" sz="2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CFAF1FA7-FA25-5012-2748-7A540794E56E}"/>
              </a:ext>
            </a:extLst>
          </p:cNvPr>
          <p:cNvSpPr/>
          <p:nvPr/>
        </p:nvSpPr>
        <p:spPr>
          <a:xfrm>
            <a:off x="791051" y="3074951"/>
            <a:ext cx="69131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b="1" dirty="0">
                <a:solidFill>
                  <a:srgbClr val="384653"/>
                </a:solidFill>
                <a:latin typeface="Montserrat" pitchFamily="34" charset="0"/>
              </a:rPr>
              <a:t>Задачи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разработки включают следующее: 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93AFCE1-66E4-FEC7-6F8D-5ACDDBFBD854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3</a:t>
            </a:r>
            <a:endParaRPr lang="ru-RU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308E525-2F8B-72A4-069A-529B9A6BC18D}"/>
              </a:ext>
            </a:extLst>
          </p:cNvPr>
          <p:cNvSpPr/>
          <p:nvPr/>
        </p:nvSpPr>
        <p:spPr>
          <a:xfrm>
            <a:off x="791051" y="394492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D4A68E74-CC97-B764-DDE2-3A00C7FF4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39" y="3974872"/>
            <a:ext cx="342067" cy="427553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97507688-D5E3-FB6E-67B0-240E9BEA0519}"/>
              </a:ext>
            </a:extLst>
          </p:cNvPr>
          <p:cNvSpPr/>
          <p:nvPr/>
        </p:nvSpPr>
        <p:spPr>
          <a:xfrm>
            <a:off x="1495068" y="4019341"/>
            <a:ext cx="5699552" cy="115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Разработка системы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формирования ведомостей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B21AB149-977C-DF70-00D1-E870734C9895}"/>
              </a:ext>
            </a:extLst>
          </p:cNvPr>
          <p:cNvSpPr/>
          <p:nvPr/>
        </p:nvSpPr>
        <p:spPr>
          <a:xfrm>
            <a:off x="7483316" y="394492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1">
            <a:extLst>
              <a:ext uri="{FF2B5EF4-FFF2-40B4-BE49-F238E27FC236}">
                <a16:creationId xmlns:a16="http://schemas.microsoft.com/office/drawing/2014/main" id="{3D13A16A-B8BE-B5B9-C208-57DD545B5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004" y="3974872"/>
            <a:ext cx="342067" cy="427553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81009805-56C8-83A9-7251-B6021BF7BDE8}"/>
              </a:ext>
            </a:extLst>
          </p:cNvPr>
          <p:cNvSpPr/>
          <p:nvPr/>
        </p:nvSpPr>
        <p:spPr>
          <a:xfrm>
            <a:off x="8187333" y="4019341"/>
            <a:ext cx="5427464" cy="86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Внедрение модуля учета оценок </a:t>
            </a:r>
          </a:p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посещаемости студентов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D9B0BEC2-397F-AB75-CE74-0D4446724F75}"/>
              </a:ext>
            </a:extLst>
          </p:cNvPr>
          <p:cNvSpPr/>
          <p:nvPr/>
        </p:nvSpPr>
        <p:spPr>
          <a:xfrm>
            <a:off x="791051" y="493749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2">
            <a:extLst>
              <a:ext uri="{FF2B5EF4-FFF2-40B4-BE49-F238E27FC236}">
                <a16:creationId xmlns:a16="http://schemas.microsoft.com/office/drawing/2014/main" id="{FFA9C166-D9ED-2BA0-1ED4-A37040882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39" y="4967441"/>
            <a:ext cx="342067" cy="427553"/>
          </a:xfrm>
          <a:prstGeom prst="rect">
            <a:avLst/>
          </a:prstGeom>
        </p:spPr>
      </p:pic>
      <p:sp>
        <p:nvSpPr>
          <p:cNvPr id="29" name="Text 8">
            <a:extLst>
              <a:ext uri="{FF2B5EF4-FFF2-40B4-BE49-F238E27FC236}">
                <a16:creationId xmlns:a16="http://schemas.microsoft.com/office/drawing/2014/main" id="{F197BA31-4B90-A3CB-1381-FDA657193A58}"/>
              </a:ext>
            </a:extLst>
          </p:cNvPr>
          <p:cNvSpPr/>
          <p:nvPr/>
        </p:nvSpPr>
        <p:spPr>
          <a:xfrm>
            <a:off x="1495068" y="5011911"/>
            <a:ext cx="5626864" cy="71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Реализация сбора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визуализации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статистических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данных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DA377338-2D89-738D-1CB5-C094B2DB1D6B}"/>
              </a:ext>
            </a:extLst>
          </p:cNvPr>
          <p:cNvSpPr/>
          <p:nvPr/>
        </p:nvSpPr>
        <p:spPr>
          <a:xfrm>
            <a:off x="7483316" y="4937497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9596C20F-9A09-C13C-92C3-43BCAB3F00C5}"/>
              </a:ext>
            </a:extLst>
          </p:cNvPr>
          <p:cNvSpPr/>
          <p:nvPr/>
        </p:nvSpPr>
        <p:spPr>
          <a:xfrm>
            <a:off x="8187333" y="5011911"/>
            <a:ext cx="57175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Автоматизация рассылки ведомостей по электронной почте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249C27E9-D879-18C2-3408-EDB7B940978E}"/>
              </a:ext>
            </a:extLst>
          </p:cNvPr>
          <p:cNvSpPr/>
          <p:nvPr/>
        </p:nvSpPr>
        <p:spPr>
          <a:xfrm>
            <a:off x="791051" y="595628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6" name="Image 4">
            <a:extLst>
              <a:ext uri="{FF2B5EF4-FFF2-40B4-BE49-F238E27FC236}">
                <a16:creationId xmlns:a16="http://schemas.microsoft.com/office/drawing/2014/main" id="{5C9E6653-D6C2-FB8C-B5D0-2A9B04ECD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39" y="5986230"/>
            <a:ext cx="342067" cy="427553"/>
          </a:xfrm>
          <a:prstGeom prst="rect">
            <a:avLst/>
          </a:prstGeom>
        </p:spPr>
      </p:pic>
      <p:sp>
        <p:nvSpPr>
          <p:cNvPr id="37" name="Text 14">
            <a:extLst>
              <a:ext uri="{FF2B5EF4-FFF2-40B4-BE49-F238E27FC236}">
                <a16:creationId xmlns:a16="http://schemas.microsoft.com/office/drawing/2014/main" id="{0D02034C-D67E-62F1-97AE-B8A87255BCF0}"/>
              </a:ext>
            </a:extLst>
          </p:cNvPr>
          <p:cNvSpPr/>
          <p:nvPr/>
        </p:nvSpPr>
        <p:spPr>
          <a:xfrm>
            <a:off x="1495068" y="6030699"/>
            <a:ext cx="5717500" cy="752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Обеспечение защищённого доступа к учебной информации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49C9CCCD-7BAC-2391-8A14-3B324439594E}"/>
              </a:ext>
            </a:extLst>
          </p:cNvPr>
          <p:cNvSpPr/>
          <p:nvPr/>
        </p:nvSpPr>
        <p:spPr>
          <a:xfrm>
            <a:off x="7483316" y="595628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B2A723E3-8785-89CB-98C2-6F8A972B8E4C}"/>
              </a:ext>
            </a:extLst>
          </p:cNvPr>
          <p:cNvSpPr/>
          <p:nvPr/>
        </p:nvSpPr>
        <p:spPr>
          <a:xfrm>
            <a:off x="8187333" y="6030700"/>
            <a:ext cx="5427464" cy="94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Создание интуитивно понятного </a:t>
            </a:r>
          </a:p>
          <a:p>
            <a:pPr indent="0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пользовательского интерфейса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43" name="Image 3">
            <a:extLst>
              <a:ext uri="{FF2B5EF4-FFF2-40B4-BE49-F238E27FC236}">
                <a16:creationId xmlns:a16="http://schemas.microsoft.com/office/drawing/2014/main" id="{3A08A056-8ABB-6AEE-3390-ED1ABD381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5945" y="4964941"/>
            <a:ext cx="342067" cy="427553"/>
          </a:xfrm>
          <a:prstGeom prst="rect">
            <a:avLst/>
          </a:prstGeom>
        </p:spPr>
      </p:pic>
      <p:pic>
        <p:nvPicPr>
          <p:cNvPr id="44" name="Image 5">
            <a:extLst>
              <a:ext uri="{FF2B5EF4-FFF2-40B4-BE49-F238E27FC236}">
                <a16:creationId xmlns:a16="http://schemas.microsoft.com/office/drawing/2014/main" id="{208EE3F0-1941-D14C-D932-F332C02376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5945" y="5995040"/>
            <a:ext cx="342067" cy="42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2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8" y="907852"/>
            <a:ext cx="723013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Технологии разработки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58309" y="3758327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Основной язык разработки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4831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79" y="328594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3272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Node.js + Express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9475946" y="3758327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Серверная часть приложения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93715" y="316747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62" y="3285946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75946" y="527054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+ Next.js</a:t>
            </a:r>
            <a:endParaRPr lang="en-US" sz="3200" dirty="0"/>
          </a:p>
        </p:txBody>
      </p:sp>
      <p:sp>
        <p:nvSpPr>
          <p:cNvPr id="14" name="Text 8"/>
          <p:cNvSpPr/>
          <p:nvPr/>
        </p:nvSpPr>
        <p:spPr>
          <a:xfrm>
            <a:off x="9475946" y="5756672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Клиентская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часть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приложения</a:t>
            </a:r>
            <a:endParaRPr lang="en-US" sz="2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93715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662" y="5784830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82178" y="5270540"/>
            <a:ext cx="29721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PostgreSQL + Sequelize</a:t>
            </a:r>
            <a:endParaRPr lang="en-US" sz="3200" dirty="0"/>
          </a:p>
        </p:txBody>
      </p:sp>
      <p:sp>
        <p:nvSpPr>
          <p:cNvPr id="19" name="Text 11"/>
          <p:cNvSpPr/>
          <p:nvPr/>
        </p:nvSpPr>
        <p:spPr>
          <a:xfrm>
            <a:off x="758309" y="5756672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 БД</a:t>
            </a:r>
            <a:endParaRPr lang="en-US" sz="2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85190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4831" y="566636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779" y="5784830"/>
            <a:ext cx="243721" cy="304681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6EA6DE3-0D72-A502-E805-01EA841106F1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D59BC5A-39DC-1461-6DCF-B830B4D6988F}"/>
              </a:ext>
            </a:extLst>
          </p:cNvPr>
          <p:cNvSpPr/>
          <p:nvPr/>
        </p:nvSpPr>
        <p:spPr>
          <a:xfrm>
            <a:off x="791051" y="1733040"/>
            <a:ext cx="11608615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реализации проекта были использованы следующие технологии:</a:t>
            </a:r>
            <a:endParaRPr lang="en-US" sz="2400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DEB5A46F-EAFA-D7DA-37C5-96ED568A351A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72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Архитектура приложения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390061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6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Клиентская часть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7652861" y="3092768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React-компоненты на базе хуков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3689985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906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7652861" y="4392692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Обмен данными в формате JSON</a:t>
            </a:r>
            <a:endParaRPr lang="en-US" sz="2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989909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206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Серверная часть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7652861" y="569261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Обработка запросов и бизнес-логика</a:t>
            </a:r>
            <a:endParaRPr lang="en-US" sz="2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709" y="6289834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50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База данных</a:t>
            </a:r>
            <a:endParaRPr lang="en-US" sz="3200" dirty="0"/>
          </a:p>
        </p:txBody>
      </p:sp>
      <p:sp>
        <p:nvSpPr>
          <p:cNvPr id="15" name="Text 8"/>
          <p:cNvSpPr/>
          <p:nvPr/>
        </p:nvSpPr>
        <p:spPr>
          <a:xfrm>
            <a:off x="7652861" y="6992541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 информации о студентах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2B1B8B-5991-DEEC-E2DA-A57074AC677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7FDB23E-9502-5D99-CE50-C0F76664C56A}"/>
              </a:ext>
            </a:extLst>
          </p:cNvPr>
          <p:cNvSpPr/>
          <p:nvPr/>
        </p:nvSpPr>
        <p:spPr>
          <a:xfrm>
            <a:off x="6244709" y="1339002"/>
            <a:ext cx="7789790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Клиент-серверная архитектура приложения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включает следующие составляющие:</a:t>
            </a:r>
            <a:endParaRPr lang="en-US" sz="2400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D7A59BA-80E2-2D02-2118-8ABE475DC76B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2AFE-84B6-C1F5-1443-A822D6B8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DA73B1-C803-C608-D548-FC8F053C1B3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B9201C2-F972-4ED7-B977-4A630D49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6680"/>
            <a:ext cx="7200016" cy="8016240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0D13549-BC7D-AD59-8069-04CDA46A90FE}"/>
              </a:ext>
            </a:extLst>
          </p:cNvPr>
          <p:cNvSpPr/>
          <p:nvPr/>
        </p:nvSpPr>
        <p:spPr>
          <a:xfrm>
            <a:off x="427355" y="1401407"/>
            <a:ext cx="6934499" cy="4587685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783A967-11BA-1CAD-EE5E-A90F837C22CC}"/>
              </a:ext>
            </a:extLst>
          </p:cNvPr>
          <p:cNvSpPr/>
          <p:nvPr/>
        </p:nvSpPr>
        <p:spPr>
          <a:xfrm>
            <a:off x="735826" y="505240"/>
            <a:ext cx="6559440" cy="66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 case </a:t>
            </a:r>
            <a:endParaRPr lang="ru-RU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34A94-1C33-53F2-E423-802DA8BFB34B}"/>
              </a:ext>
            </a:extLst>
          </p:cNvPr>
          <p:cNvSpPr txBox="1"/>
          <p:nvPr/>
        </p:nvSpPr>
        <p:spPr>
          <a:xfrm>
            <a:off x="755760" y="1617758"/>
            <a:ext cx="630345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Диаграмма вариантов использования отражает взаимодействие пользователей с системой на концептуальном уровне.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Администратор управляет пользователями, ведомостями, студентами, дисциплинами и просматривает статистику.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Преподаватели работают с ведомостями, выставляют оценки. </a:t>
            </a:r>
          </a:p>
          <a:p>
            <a:pPr algn="just"/>
            <a:endParaRPr lang="ru-RU" sz="20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/>
            <a:r>
              <a:rPr lang="ru-RU" sz="2000" dirty="0">
                <a:solidFill>
                  <a:srgbClr val="384653"/>
                </a:solidFill>
                <a:latin typeface="Montserrat" pitchFamily="34" charset="0"/>
              </a:rPr>
              <a:t>Гостям доступен просмотр статистики и базовые функции безопасности</a:t>
            </a: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5EF42D7-A5FC-AD64-FBC8-E101AE5D664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30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02314C6-D30B-F7D1-3B37-163CD505C13C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701" y="286361"/>
            <a:ext cx="762738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Безопасность приложения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077891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302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Access-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токены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68904" y="2788218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Аутентификация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запрос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44709" y="4809689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50338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Ролевая модель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68904" y="5520016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Разграничение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доступа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ей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44709" y="6173494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8904" y="6397689"/>
            <a:ext cx="64840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Шифрование AES-256 и </a:t>
            </a: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bcrypt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68904" y="68838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учетных данных преподавателей</a:t>
            </a:r>
            <a:endParaRPr lang="en-US" sz="2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42ADC48-BEE4-E621-1EC4-28D824113BDB}"/>
              </a:ext>
            </a:extLst>
          </p:cNvPr>
          <p:cNvSpPr/>
          <p:nvPr/>
        </p:nvSpPr>
        <p:spPr>
          <a:xfrm>
            <a:off x="6244709" y="999069"/>
            <a:ext cx="7627382" cy="780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Для обеспечения безопасности использованы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следующие технологии и решения:</a:t>
            </a:r>
            <a:endParaRPr lang="en-US" sz="24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FE242D6-BE31-450D-506B-0CCABA7091C2}"/>
              </a:ext>
            </a:extLst>
          </p:cNvPr>
          <p:cNvSpPr/>
          <p:nvPr/>
        </p:nvSpPr>
        <p:spPr>
          <a:xfrm>
            <a:off x="6244709" y="3443790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ru-RU" sz="28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163996D6-3553-9AAB-F7FE-2315C1E83861}"/>
              </a:ext>
            </a:extLst>
          </p:cNvPr>
          <p:cNvSpPr/>
          <p:nvPr/>
        </p:nvSpPr>
        <p:spPr>
          <a:xfrm>
            <a:off x="6468904" y="36679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Refresh-токены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B3BBA62-1E44-864E-5383-6CFDDB5F64B0}"/>
              </a:ext>
            </a:extLst>
          </p:cNvPr>
          <p:cNvSpPr/>
          <p:nvPr/>
        </p:nvSpPr>
        <p:spPr>
          <a:xfrm>
            <a:off x="6468904" y="41541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Обеспечение непрерывности сессии</a:t>
            </a:r>
            <a:endParaRPr lang="en-US" sz="24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18E321D-4909-E884-BA83-6F5E8657BA8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7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435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53191"/>
            <a:ext cx="67465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Работа с документами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85575" y="4840783"/>
            <a:ext cx="3034665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575" y="5382279"/>
            <a:ext cx="3027759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Загрузка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шаблон</a:t>
            </a:r>
            <a:r>
              <a:rPr lang="ru-RU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78669" y="6134504"/>
            <a:ext cx="3034665" cy="132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DOCX-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шаблон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</a:t>
            </a:r>
            <a:endParaRPr lang="ru-RU" sz="24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олями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заполнения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45162" y="4515862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5162" y="5057358"/>
            <a:ext cx="3034784" cy="730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Заполнение данными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158854" y="5863042"/>
            <a:ext cx="3034784" cy="101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Docxtemplater + PizZip для вставки данных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504867" y="4190821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4867" y="4732317"/>
            <a:ext cx="2850713" cy="730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Конвертация</a:t>
            </a: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endParaRPr lang="ru-RU" sz="3200" b="1" dirty="0">
              <a:solidFill>
                <a:srgbClr val="384653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 PDF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532133" y="5463284"/>
            <a:ext cx="3034784" cy="10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COM-интерфейс Microsoft Word через PowerShell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864573" y="3865899"/>
            <a:ext cx="3034784" cy="216575"/>
          </a:xfrm>
          <a:prstGeom prst="roundRect">
            <a:avLst>
              <a:gd name="adj" fmla="val 15006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64573" y="4407396"/>
            <a:ext cx="3034784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Отправка документов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0864573" y="5235474"/>
            <a:ext cx="3034784" cy="1120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Рассылка через Nodemailer по SMTP</a:t>
            </a:r>
            <a:endParaRPr lang="en-US" sz="2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0DC2E61-2E8B-5CDD-6D53-35831D6A5EA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68EDCDC6-97A0-5B07-9A74-D785EBA9F366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8ACCAD9-4BC5-6ED4-D702-6C3808E0B61A}"/>
              </a:ext>
            </a:extLst>
          </p:cNvPr>
          <p:cNvSpPr/>
          <p:nvPr/>
        </p:nvSpPr>
        <p:spPr>
          <a:xfrm>
            <a:off x="200406" y="2902367"/>
            <a:ext cx="4833818" cy="3267321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9AB82B-1CB4-A303-7448-1D6B7E93EB76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DAD1EE-FB24-32CA-6CFF-0BDA283D4B0B}"/>
              </a:ext>
            </a:extLst>
          </p:cNvPr>
          <p:cNvSpPr/>
          <p:nvPr/>
        </p:nvSpPr>
        <p:spPr>
          <a:xfrm>
            <a:off x="5237432" y="643993"/>
            <a:ext cx="8510954" cy="72872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240700" y="698432"/>
            <a:ext cx="4969329" cy="2430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входа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восстановления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пароля</a:t>
            </a:r>
            <a:endParaRPr lang="en-US" sz="44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FBD6B3A-3742-0301-82D5-700258739A7A}"/>
              </a:ext>
            </a:extLst>
          </p:cNvPr>
          <p:cNvSpPr/>
          <p:nvPr/>
        </p:nvSpPr>
        <p:spPr>
          <a:xfrm>
            <a:off x="376394" y="3307469"/>
            <a:ext cx="4657830" cy="263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входа в систему и 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восстановления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пароля, осуществляющие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восстановление в три этапа:</a:t>
            </a:r>
          </a:p>
          <a:p>
            <a:pPr marL="457200" indent="-457200" algn="just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Отправка кода на почту</a:t>
            </a:r>
          </a:p>
          <a:p>
            <a:pPr marL="457200" indent="-457200" algn="just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Верификация кода</a:t>
            </a:r>
          </a:p>
          <a:p>
            <a:pPr marL="457200" indent="-457200" algn="just">
              <a:lnSpc>
                <a:spcPts val="2700"/>
              </a:lnSpc>
              <a:buAutoNum type="arabicParenR"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Создание нового пароля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2D20B4-C0AF-EDF7-3D38-3E17B7A92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10" b="95434" l="1887" r="96792">
                        <a14:foregroundMark x1="7925" y1="10046" x2="34906" y2="51598"/>
                        <a14:foregroundMark x1="34906" y1="51598" x2="36604" y2="71461"/>
                        <a14:foregroundMark x1="36604" y1="71461" x2="48868" y2="73288"/>
                        <a14:foregroundMark x1="18113" y1="84703" x2="5094" y2="63699"/>
                        <a14:foregroundMark x1="5094" y1="63699" x2="8491" y2="18037"/>
                        <a14:foregroundMark x1="8491" y1="18037" x2="18868" y2="34703"/>
                        <a14:foregroundMark x1="18868" y1="34703" x2="19623" y2="92694"/>
                        <a14:foregroundMark x1="19623" y1="92694" x2="7736" y2="88584"/>
                        <a14:foregroundMark x1="6415" y1="94292" x2="51132" y2="94292"/>
                        <a14:foregroundMark x1="51132" y1="94292" x2="87736" y2="95890"/>
                        <a14:foregroundMark x1="87736" y1="95890" x2="95283" y2="87443"/>
                        <a14:foregroundMark x1="95283" y1="87443" x2="94340" y2="15753"/>
                        <a14:foregroundMark x1="94340" y1="15753" x2="86604" y2="4795"/>
                        <a14:foregroundMark x1="86604" y1="4795" x2="6792" y2="6621"/>
                        <a14:foregroundMark x1="6792" y1="6621" x2="2264" y2="33562"/>
                        <a14:foregroundMark x1="2264" y1="33562" x2="6604" y2="95890"/>
                        <a14:foregroundMark x1="3585" y1="9589" x2="17170" y2="4566"/>
                        <a14:foregroundMark x1="17170" y1="4566" x2="40755" y2="4110"/>
                        <a14:foregroundMark x1="89623" y1="5479" x2="94528" y2="42237"/>
                        <a14:foregroundMark x1="94528" y1="42237" x2="94151" y2="89498"/>
                        <a14:foregroundMark x1="96792" y1="90411" x2="96604" y2="57534"/>
                        <a14:foregroundMark x1="91698" y1="35160" x2="63019" y2="38356"/>
                        <a14:foregroundMark x1="63019" y1="38356" x2="50943" y2="49543"/>
                        <a14:foregroundMark x1="50943" y1="49543" x2="45094" y2="34703"/>
                        <a14:foregroundMark x1="45094" y1="34703" x2="62642" y2="62785"/>
                        <a14:foregroundMark x1="62642" y1="62785" x2="50566" y2="85616"/>
                        <a14:foregroundMark x1="50566" y1="85616" x2="38679" y2="85160"/>
                        <a14:foregroundMark x1="38679" y1="85160" x2="38679" y2="84932"/>
                        <a14:foregroundMark x1="81132" y1="79909" x2="57925" y2="61644"/>
                        <a14:foregroundMark x1="57925" y1="61644" x2="43774" y2="65068"/>
                        <a14:foregroundMark x1="43774" y1="65068" x2="55660" y2="68265"/>
                        <a14:foregroundMark x1="72453" y1="77854" x2="60755" y2="77854"/>
                        <a14:foregroundMark x1="60755" y1="77854" x2="42642" y2="54795"/>
                        <a14:foregroundMark x1="42642" y1="54795" x2="44340" y2="36073"/>
                        <a14:foregroundMark x1="44340" y1="36073" x2="73585" y2="28539"/>
                        <a14:foregroundMark x1="75660" y1="49772" x2="33208" y2="22831"/>
                        <a14:foregroundMark x1="33208" y1="22831" x2="80189" y2="29224"/>
                        <a14:foregroundMark x1="80189" y1="29224" x2="74528" y2="308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0061" y="650983"/>
            <a:ext cx="4954188" cy="409421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CB3ABFB-1802-092F-0A39-4D9D3A2D7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466" b="94612" l="3178" r="94579">
                        <a14:foregroundMark x1="6355" y1="9698" x2="35327" y2="15733"/>
                        <a14:foregroundMark x1="35327" y1="15733" x2="40374" y2="14655"/>
                        <a14:foregroundMark x1="89720" y1="11207" x2="91028" y2="15517"/>
                        <a14:foregroundMark x1="93458" y1="34698" x2="93645" y2="36422"/>
                        <a14:foregroundMark x1="93645" y1="39871" x2="93458" y2="43966"/>
                        <a14:foregroundMark x1="93271" y1="51509" x2="92336" y2="67026"/>
                        <a14:foregroundMark x1="92336" y1="67026" x2="85047" y2="85345"/>
                        <a14:foregroundMark x1="85047" y1="85345" x2="70280" y2="90948"/>
                        <a14:foregroundMark x1="70280" y1="90948" x2="18692" y2="91810"/>
                        <a14:foregroundMark x1="18692" y1="91810" x2="8411" y2="86853"/>
                        <a14:foregroundMark x1="8411" y1="86853" x2="3551" y2="66379"/>
                        <a14:foregroundMark x1="3551" y1="66379" x2="7290" y2="18750"/>
                        <a14:foregroundMark x1="51963" y1="14009" x2="88972" y2="10345"/>
                        <a14:foregroundMark x1="94206" y1="9914" x2="93458" y2="26940"/>
                        <a14:foregroundMark x1="95327" y1="48060" x2="95140" y2="42241"/>
                        <a14:foregroundMark x1="68411" y1="8190" x2="58692" y2="6466"/>
                        <a14:foregroundMark x1="37757" y1="77371" x2="40000" y2="75862"/>
                        <a14:foregroundMark x1="43364" y1="81250" x2="43364" y2="81250"/>
                        <a14:foregroundMark x1="34206" y1="81897" x2="66729" y2="80603"/>
                        <a14:foregroundMark x1="32897" y1="19397" x2="22430" y2="16379"/>
                        <a14:foregroundMark x1="41869" y1="57112" x2="61869" y2="57759"/>
                        <a14:foregroundMark x1="89720" y1="89009" x2="80935" y2="90086"/>
                        <a14:foregroundMark x1="92897" y1="85776" x2="84299" y2="90517"/>
                        <a14:foregroundMark x1="84299" y1="90517" x2="83738" y2="90517"/>
                        <a14:foregroundMark x1="59626" y1="81897" x2="48411" y2="81466"/>
                        <a14:foregroundMark x1="43738" y1="94612" x2="43738" y2="94612"/>
                        <a14:foregroundMark x1="27477" y1="81034" x2="23551" y2="786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36543" y="2563973"/>
            <a:ext cx="3482059" cy="301995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4E0FEEE-7C58-C58E-41B1-E2BC18AB88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094" b="91906" l="4982" r="94096">
                        <a14:foregroundMark x1="5166" y1="9922" x2="5535" y2="25587"/>
                        <a14:foregroundMark x1="5535" y1="25587" x2="5166" y2="28198"/>
                        <a14:foregroundMark x1="6458" y1="38381" x2="6458" y2="39687"/>
                        <a14:foregroundMark x1="6273" y1="42820" x2="5904" y2="45953"/>
                        <a14:foregroundMark x1="6089" y1="50653" x2="5904" y2="56658"/>
                        <a14:foregroundMark x1="6089" y1="60313" x2="6273" y2="65796"/>
                        <a14:foregroundMark x1="6273" y1="75718" x2="11624" y2="89295"/>
                        <a14:foregroundMark x1="11624" y1="89295" x2="37085" y2="89295"/>
                        <a14:foregroundMark x1="37085" y1="89295" x2="56642" y2="88512"/>
                        <a14:foregroundMark x1="56642" y1="88512" x2="80074" y2="89034"/>
                        <a14:foregroundMark x1="80074" y1="89034" x2="92804" y2="83812"/>
                        <a14:foregroundMark x1="92804" y1="83812" x2="94834" y2="17493"/>
                        <a14:foregroundMark x1="94834" y1="17493" x2="85240" y2="8877"/>
                        <a14:foregroundMark x1="85240" y1="8877" x2="5351" y2="9661"/>
                        <a14:foregroundMark x1="5351" y1="9661" x2="5535" y2="16188"/>
                        <a14:foregroundMark x1="14576" y1="51436" x2="33026" y2="37076"/>
                        <a14:foregroundMark x1="33026" y1="37076" x2="82103" y2="36815"/>
                        <a14:foregroundMark x1="82103" y1="36815" x2="63284" y2="58747"/>
                        <a14:foregroundMark x1="63284" y1="58747" x2="36716" y2="51175"/>
                        <a14:foregroundMark x1="36716" y1="51175" x2="36716" y2="45692"/>
                        <a14:foregroundMark x1="88192" y1="31854" x2="90590" y2="65535"/>
                        <a14:foregroundMark x1="92435" y1="34204" x2="94280" y2="16188"/>
                        <a14:foregroundMark x1="25461" y1="8616" x2="26384" y2="8355"/>
                        <a14:foregroundMark x1="17897" y1="22193" x2="17897" y2="22193"/>
                        <a14:foregroundMark x1="19557" y1="23238" x2="17343" y2="21149"/>
                        <a14:foregroundMark x1="84502" y1="40470" x2="88192" y2="42820"/>
                        <a14:foregroundMark x1="75830" y1="91906" x2="70480" y2="911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51435" y="5456585"/>
            <a:ext cx="3511840" cy="248161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9E95C6C-CB14-04AC-AE6A-8AE1E6F48E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2968" r="96104">
                        <a14:foregroundMark x1="5195" y1="15484" x2="5566" y2="83226"/>
                        <a14:foregroundMark x1="5566" y1="83226" x2="18553" y2="84839"/>
                        <a14:foregroundMark x1="18553" y1="84839" x2="49165" y2="84516"/>
                        <a14:foregroundMark x1="49165" y1="84516" x2="85900" y2="86129"/>
                        <a14:foregroundMark x1="85900" y1="86129" x2="94249" y2="78387"/>
                        <a14:foregroundMark x1="94249" y1="78387" x2="95547" y2="33871"/>
                        <a14:foregroundMark x1="95547" y1="33871" x2="93878" y2="16452"/>
                        <a14:foregroundMark x1="93878" y1="16452" x2="13729" y2="14839"/>
                        <a14:foregroundMark x1="13729" y1="14839" x2="7978" y2="10000"/>
                        <a14:foregroundMark x1="21521" y1="22258" x2="29870" y2="33871"/>
                        <a14:foregroundMark x1="29870" y1="33871" x2="64193" y2="34839"/>
                        <a14:foregroundMark x1="64193" y1="34839" x2="81262" y2="32258"/>
                        <a14:foregroundMark x1="81262" y1="32258" x2="84045" y2="36774"/>
                        <a14:foregroundMark x1="91837" y1="32903" x2="93321" y2="59032"/>
                        <a14:foregroundMark x1="96104" y1="46774" x2="96289" y2="45161"/>
                        <a14:foregroundMark x1="2968" y1="54516" x2="2968" y2="54516"/>
                        <a14:foregroundMark x1="10575" y1="27097" x2="10575" y2="270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94249" y="643993"/>
            <a:ext cx="3524353" cy="202699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BCFBC5F-3E20-EC89-95AE-BDA47EC896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8863" y="5123517"/>
            <a:ext cx="4716584" cy="2619324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35C23EDC-818E-4330-A9F7-4A7EA8C3E24E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9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A92C-C6EC-C3C0-D2BA-58FCFA7D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DF7B7A-2C0C-0016-DD55-5A1F71DAB60F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53A39A-E58A-1C52-CF28-C4BC768FAEF5}"/>
              </a:ext>
            </a:extLst>
          </p:cNvPr>
          <p:cNvSpPr/>
          <p:nvPr/>
        </p:nvSpPr>
        <p:spPr>
          <a:xfrm>
            <a:off x="5581649" y="1113006"/>
            <a:ext cx="8083664" cy="6295009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2DE06BF-39EC-FC4A-DE16-4EBD2DF7AE97}"/>
              </a:ext>
            </a:extLst>
          </p:cNvPr>
          <p:cNvSpPr/>
          <p:nvPr/>
        </p:nvSpPr>
        <p:spPr>
          <a:xfrm>
            <a:off x="222585" y="930191"/>
            <a:ext cx="5739516" cy="1531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выбора </a:t>
            </a:r>
            <a:endParaRPr lang="en-US" sz="4450" b="1" dirty="0">
              <a:solidFill>
                <a:srgbClr val="2E3C4E"/>
              </a:solidFill>
              <a:latin typeface="Barlow Bold" pitchFamily="34" charset="0"/>
              <a:ea typeface="Barlow Bold" pitchFamily="34" charset="-122"/>
              <a:cs typeface="Barlow Bold" pitchFamily="34" charset="-120"/>
            </a:endParaRPr>
          </a:p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поиска группы</a:t>
            </a:r>
            <a:endParaRPr lang="en-US" sz="44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7D5EC5-78F2-FFC9-8629-5212485FC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67" b="98608" l="0" r="89362">
                        <a14:foregroundMark x1="3901" y1="4573" x2="34752" y2="10537"/>
                        <a14:foregroundMark x1="34752" y1="10537" x2="79078" y2="8549"/>
                        <a14:foregroundMark x1="79078" y1="8549" x2="85106" y2="20875"/>
                        <a14:foregroundMark x1="85106" y1="20875" x2="83333" y2="38171"/>
                        <a14:foregroundMark x1="83333" y1="38171" x2="84397" y2="41153"/>
                        <a14:foregroundMark x1="31206" y1="27435" x2="15603" y2="7555"/>
                        <a14:foregroundMark x1="15603" y1="7555" x2="34043" y2="5964"/>
                        <a14:foregroundMark x1="34043" y1="5964" x2="61702" y2="6759"/>
                        <a14:foregroundMark x1="11348" y1="10934" x2="12057" y2="37376"/>
                        <a14:foregroundMark x1="9929" y1="48708" x2="3901" y2="25845"/>
                        <a14:foregroundMark x1="13830" y1="84095" x2="32624" y2="95427"/>
                        <a14:foregroundMark x1="32624" y1="95427" x2="84752" y2="96024"/>
                        <a14:foregroundMark x1="78723" y1="99602" x2="36879" y2="99602"/>
                        <a14:foregroundMark x1="36879" y1="99602" x2="10993" y2="95427"/>
                        <a14:foregroundMark x1="10993" y1="95427" x2="0" y2="59642"/>
                        <a14:foregroundMark x1="57447" y1="98012" x2="57447" y2="98608"/>
                        <a14:foregroundMark x1="39716" y1="22863" x2="37943" y2="19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23302" y="1113007"/>
            <a:ext cx="3481678" cy="6210228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B622984-C795-D3AD-D7CC-0D7519F45B70}"/>
              </a:ext>
            </a:extLst>
          </p:cNvPr>
          <p:cNvSpPr/>
          <p:nvPr/>
        </p:nvSpPr>
        <p:spPr>
          <a:xfrm>
            <a:off x="200406" y="2699817"/>
            <a:ext cx="4833818" cy="4689057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BACA9D5-841F-C7DA-630D-276B3EAF1E19}"/>
              </a:ext>
            </a:extLst>
          </p:cNvPr>
          <p:cNvSpPr/>
          <p:nvPr/>
        </p:nvSpPr>
        <p:spPr>
          <a:xfrm>
            <a:off x="376394" y="3227045"/>
            <a:ext cx="4657830" cy="407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Боковая панель для выбора 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группы в одном из двух </a:t>
            </a:r>
          </a:p>
          <a:p>
            <a:pPr marL="0" indent="0" algn="just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режимов: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Текущие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- Архив</a:t>
            </a:r>
          </a:p>
          <a:p>
            <a:pPr algn="just">
              <a:lnSpc>
                <a:spcPts val="2700"/>
              </a:lnSpc>
            </a:pPr>
            <a:endParaRPr lang="ru-RU" sz="2400" dirty="0">
              <a:solidFill>
                <a:srgbClr val="384653"/>
              </a:solidFill>
              <a:latin typeface="Montserrat" pitchFamily="34" charset="0"/>
            </a:endParaRP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Форма поиска группы, 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осуществляющая поиск по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студенту, дисциплине и </a:t>
            </a:r>
          </a:p>
          <a:p>
            <a:pPr algn="just">
              <a:lnSpc>
                <a:spcPts val="2700"/>
              </a:lnSpc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Номеру группы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23F78E8-E3C2-88F9-DB3C-7C6C99BE9D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87" b="94929" l="5417" r="95000">
                        <a14:foregroundMark x1="16250" y1="6498" x2="30833" y2="18225"/>
                        <a14:foregroundMark x1="30833" y1="18225" x2="32083" y2="20602"/>
                        <a14:foregroundMark x1="25833" y1="6339" x2="46667" y2="8716"/>
                        <a14:foregroundMark x1="46667" y1="8716" x2="67083" y2="28051"/>
                        <a14:foregroundMark x1="67083" y1="28051" x2="50000" y2="81141"/>
                        <a14:foregroundMark x1="50000" y1="81141" x2="26667" y2="80032"/>
                        <a14:foregroundMark x1="26667" y1="80032" x2="18750" y2="75436"/>
                        <a14:foregroundMark x1="12500" y1="88273" x2="11042" y2="58479"/>
                        <a14:foregroundMark x1="6458" y1="33439" x2="5417" y2="24881"/>
                        <a14:foregroundMark x1="9583" y1="6815" x2="35417" y2="4437"/>
                        <a14:foregroundMark x1="35417" y1="4437" x2="38958" y2="4437"/>
                        <a14:foregroundMark x1="81458" y1="7290" x2="90000" y2="7607"/>
                        <a14:foregroundMark x1="90625" y1="7290" x2="92708" y2="5388"/>
                        <a14:foregroundMark x1="85833" y1="5388" x2="10208" y2="4913"/>
                        <a14:foregroundMark x1="10208" y1="4913" x2="9375" y2="9826"/>
                        <a14:foregroundMark x1="8125" y1="8875" x2="9167" y2="3803"/>
                        <a14:foregroundMark x1="23333" y1="7607" x2="28125" y2="7607"/>
                        <a14:foregroundMark x1="7708" y1="6973" x2="5625" y2="9826"/>
                        <a14:foregroundMark x1="93750" y1="7132" x2="93542" y2="6815"/>
                        <a14:foregroundMark x1="95000" y1="5071" x2="93542" y2="5705"/>
                        <a14:foregroundMark x1="93542" y1="9192" x2="78542" y2="11252"/>
                        <a14:foregroundMark x1="78542" y1="11252" x2="70625" y2="10460"/>
                        <a14:foregroundMark x1="88958" y1="12678" x2="76250" y2="13946"/>
                        <a14:foregroundMark x1="18125" y1="12044" x2="10625" y2="13312"/>
                        <a14:foregroundMark x1="69792" y1="70998" x2="55208" y2="79556"/>
                        <a14:foregroundMark x1="55208" y1="79556" x2="71458" y2="74010"/>
                        <a14:foregroundMark x1="71458" y1="74010" x2="74167" y2="64976"/>
                        <a14:foregroundMark x1="74167" y1="64976" x2="74583" y2="66244"/>
                        <a14:foregroundMark x1="79583" y1="88431" x2="28958" y2="949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07099" y="1152948"/>
            <a:ext cx="4758213" cy="6255068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E98B6E69-7F0A-BA70-11AA-8C0BD7E31ADD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8962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97DA-CC2C-8C82-1BEF-250870F4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16C3CCC-5E18-3EBA-D24B-8F9395C27E34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CE4E8C-E878-9B1E-C695-2DFA8AA10B20}"/>
              </a:ext>
            </a:extLst>
          </p:cNvPr>
          <p:cNvSpPr/>
          <p:nvPr/>
        </p:nvSpPr>
        <p:spPr>
          <a:xfrm>
            <a:off x="671332" y="2141315"/>
            <a:ext cx="13299311" cy="4977115"/>
          </a:xfrm>
          <a:prstGeom prst="rect">
            <a:avLst/>
          </a:prstGeom>
          <a:solidFill>
            <a:srgbClr val="D4E9F7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20B924B-71C4-4A36-FB15-55FD9BB275C1}"/>
              </a:ext>
            </a:extLst>
          </p:cNvPr>
          <p:cNvSpPr/>
          <p:nvPr/>
        </p:nvSpPr>
        <p:spPr>
          <a:xfrm>
            <a:off x="671332" y="758441"/>
            <a:ext cx="92885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</a:t>
            </a:r>
            <a:r>
              <a:rPr lang="en-US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нтерфейс</a:t>
            </a: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учета успеваемости и посещаемости</a:t>
            </a:r>
            <a:endParaRPr lang="en-US" sz="44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4E080B-154A-92EB-E73A-FE84AB31A6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7" b="95308" l="2219" r="96098">
                        <a14:foregroundMark x1="2601" y1="3545" x2="21806" y2="24922"/>
                        <a14:foregroundMark x1="21806" y1="24922" x2="22724" y2="34098"/>
                        <a14:foregroundMark x1="36802" y1="18352" x2="20735" y2="24609"/>
                        <a14:foregroundMark x1="20735" y1="24609" x2="13083" y2="32638"/>
                        <a14:foregroundMark x1="10252" y1="13034" x2="15302" y2="21585"/>
                        <a14:foregroundMark x1="15302" y1="21585" x2="38103" y2="26590"/>
                        <a14:foregroundMark x1="38103" y1="26590" x2="33971" y2="18040"/>
                        <a14:foregroundMark x1="2372" y1="3962" x2="12777" y2="3233"/>
                        <a14:foregroundMark x1="12777" y1="3233" x2="25478" y2="3650"/>
                        <a14:foregroundMark x1="25478" y1="3650" x2="32670" y2="3233"/>
                        <a14:foregroundMark x1="32670" y1="3233" x2="61132" y2="3754"/>
                        <a14:foregroundMark x1="61132" y1="3754" x2="79495" y2="3024"/>
                        <a14:foregroundMark x1="79495" y1="3024" x2="95333" y2="3650"/>
                        <a14:foregroundMark x1="95333" y1="3650" x2="98087" y2="13452"/>
                        <a14:foregroundMark x1="98087" y1="13452" x2="97016" y2="91032"/>
                        <a14:foregroundMark x1="97016" y1="91032" x2="89594" y2="97289"/>
                        <a14:foregroundMark x1="89594" y1="97289" x2="4591" y2="94369"/>
                        <a14:foregroundMark x1="4591" y1="94369" x2="2219" y2="3754"/>
                        <a14:foregroundMark x1="8569" y1="22836" x2="42234" y2="59020"/>
                        <a14:foregroundMark x1="42234" y1="59020" x2="45218" y2="59750"/>
                        <a14:foregroundMark x1="50268" y1="23149" x2="19740" y2="69552"/>
                        <a14:foregroundMark x1="19740" y1="69552" x2="19434" y2="70490"/>
                        <a14:foregroundMark x1="26626" y1="10428" x2="33359" y2="13660"/>
                        <a14:foregroundMark x1="33359" y1="13660" x2="43535" y2="24400"/>
                        <a14:foregroundMark x1="43535" y1="24400" x2="40092" y2="26903"/>
                        <a14:foregroundMark x1="53940" y1="10636" x2="40627" y2="20959"/>
                        <a14:foregroundMark x1="40627" y1="20959" x2="61974" y2="23670"/>
                        <a14:foregroundMark x1="61974" y1="23670" x2="54552" y2="52972"/>
                        <a14:foregroundMark x1="54552" y1="52972" x2="74904" y2="76330"/>
                        <a14:foregroundMark x1="74904" y1="76330" x2="79954" y2="79041"/>
                        <a14:foregroundMark x1="69931" y1="36705" x2="68171" y2="53493"/>
                        <a14:foregroundMark x1="68171" y1="53493" x2="53481" y2="63504"/>
                        <a14:foregroundMark x1="53481" y1="63504" x2="50650" y2="67049"/>
                        <a14:foregroundMark x1="33971" y1="64234" x2="34736" y2="52033"/>
                        <a14:foregroundMark x1="34736" y1="52033" x2="40933" y2="39625"/>
                        <a14:foregroundMark x1="40933" y1="39625" x2="72073" y2="16997"/>
                        <a14:foregroundMark x1="72073" y1="16997" x2="84774" y2="29093"/>
                        <a14:foregroundMark x1="84774" y1="29093" x2="91584" y2="13452"/>
                        <a14:foregroundMark x1="91584" y1="13452" x2="94950" y2="27842"/>
                        <a14:foregroundMark x1="94950" y1="27842" x2="93191" y2="89051"/>
                        <a14:foregroundMark x1="93191" y1="89051" x2="82555" y2="79353"/>
                        <a14:foregroundMark x1="94721" y1="95308" x2="96098" y2="59437"/>
                        <a14:foregroundMark x1="53787" y1="35036" x2="51721" y2="48175"/>
                        <a14:foregroundMark x1="51721" y1="48175" x2="54017" y2="43379"/>
                        <a14:foregroundMark x1="90436" y1="93222" x2="85769" y2="92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00" y="2226398"/>
            <a:ext cx="6504038" cy="477228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835D22-215F-0005-FC3F-A7A509A901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35" b="94247" l="3588" r="97863">
                        <a14:foregroundMark x1="2595" y1="2929" x2="10229" y2="9310"/>
                        <a14:foregroundMark x1="10229" y1="9310" x2="42443" y2="14017"/>
                        <a14:foregroundMark x1="42443" y1="14017" x2="67023" y2="27406"/>
                        <a14:foregroundMark x1="67023" y1="27406" x2="57710" y2="55230"/>
                        <a14:foregroundMark x1="57710" y1="55230" x2="34046" y2="37343"/>
                        <a14:foregroundMark x1="34046" y1="37343" x2="44885" y2="15063"/>
                        <a14:foregroundMark x1="44885" y1="15063" x2="65420" y2="18410"/>
                        <a14:foregroundMark x1="65420" y1="18410" x2="67023" y2="19874"/>
                        <a14:foregroundMark x1="55344" y1="15795" x2="39008" y2="14854"/>
                        <a14:foregroundMark x1="39008" y1="14854" x2="15115" y2="50209"/>
                        <a14:foregroundMark x1="15115" y1="50209" x2="41985" y2="79498"/>
                        <a14:foregroundMark x1="41985" y1="79498" x2="76107" y2="52824"/>
                        <a14:foregroundMark x1="76107" y1="52824" x2="49160" y2="16841"/>
                        <a14:foregroundMark x1="49160" y1="16841" x2="35038" y2="14226"/>
                        <a14:foregroundMark x1="74122" y1="30858" x2="57023" y2="45502"/>
                        <a14:foregroundMark x1="57023" y1="45502" x2="49084" y2="90063"/>
                        <a14:foregroundMark x1="49084" y1="90063" x2="78473" y2="91109"/>
                        <a14:foregroundMark x1="78473" y1="91109" x2="87023" y2="73326"/>
                        <a14:foregroundMark x1="87023" y1="73326" x2="75191" y2="55021"/>
                        <a14:foregroundMark x1="75191" y1="55021" x2="73817" y2="54289"/>
                        <a14:foregroundMark x1="88015" y1="49477" x2="84656" y2="60042"/>
                        <a14:foregroundMark x1="84656" y1="60042" x2="90229" y2="79289"/>
                        <a14:foregroundMark x1="90229" y1="79289" x2="95115" y2="59833"/>
                        <a14:foregroundMark x1="95115" y1="59833" x2="89389" y2="15900"/>
                        <a14:foregroundMark x1="89389" y1="15900" x2="83969" y2="33682"/>
                        <a14:foregroundMark x1="83969" y1="33682" x2="84122" y2="51569"/>
                        <a14:foregroundMark x1="84122" y1="51569" x2="83893" y2="51987"/>
                        <a14:foregroundMark x1="85802" y1="14331" x2="76412" y2="16527"/>
                        <a14:foregroundMark x1="76412" y1="16527" x2="74427" y2="40167"/>
                        <a14:foregroundMark x1="74427" y1="40167" x2="81527" y2="14435"/>
                        <a14:foregroundMark x1="81527" y1="14435" x2="70992" y2="14017"/>
                        <a14:foregroundMark x1="52977" y1="5439" x2="60611" y2="10146"/>
                        <a14:foregroundMark x1="60611" y1="10146" x2="49084" y2="5439"/>
                        <a14:foregroundMark x1="49084" y1="5439" x2="52748" y2="9833"/>
                        <a14:foregroundMark x1="17481" y1="60774" x2="14275" y2="70607"/>
                        <a14:foregroundMark x1="14275" y1="70607" x2="25954" y2="80230"/>
                        <a14:foregroundMark x1="25954" y1="80230" x2="16031" y2="63598"/>
                        <a14:foregroundMark x1="16031" y1="63598" x2="11450" y2="66004"/>
                        <a14:foregroundMark x1="11450" y1="66004" x2="11603" y2="66004"/>
                        <a14:foregroundMark x1="11603" y1="76464" x2="8473" y2="84414"/>
                        <a14:foregroundMark x1="8473" y1="84414" x2="15038" y2="87552"/>
                        <a14:foregroundMark x1="15038" y1="87552" x2="7786" y2="78243"/>
                        <a14:foregroundMark x1="7786" y1="78243" x2="7252" y2="78661"/>
                        <a14:foregroundMark x1="4504" y1="63703" x2="2595" y2="79707"/>
                        <a14:foregroundMark x1="2595" y1="79707" x2="6031" y2="73013"/>
                        <a14:foregroundMark x1="6031" y1="73013" x2="5573" y2="63494"/>
                        <a14:foregroundMark x1="5573" y1="63494" x2="4656" y2="63180"/>
                        <a14:foregroundMark x1="5191" y1="86402" x2="5420" y2="92469"/>
                        <a14:foregroundMark x1="5420" y1="92469" x2="10763" y2="91004"/>
                        <a14:foregroundMark x1="10763" y1="91004" x2="6107" y2="89958"/>
                        <a14:foregroundMark x1="6107" y1="89958" x2="5725" y2="91423"/>
                        <a14:foregroundMark x1="3664" y1="92364" x2="4351" y2="94247"/>
                        <a14:foregroundMark x1="90687" y1="88389" x2="91298" y2="90272"/>
                        <a14:foregroundMark x1="93359" y1="87343" x2="92214" y2="87029"/>
                        <a14:foregroundMark x1="97863" y1="93410" x2="92901" y2="86297"/>
                        <a14:foregroundMark x1="92901" y1="86297" x2="83282" y2="88075"/>
                        <a14:foregroundMark x1="83282" y1="88075" x2="92290" y2="89331"/>
                        <a14:foregroundMark x1="92290" y1="89331" x2="94275" y2="92469"/>
                        <a14:foregroundMark x1="93893" y1="7950" x2="88092" y2="9519"/>
                        <a14:foregroundMark x1="7481" y1="8891" x2="13511" y2="8054"/>
                        <a14:foregroundMark x1="13511" y1="8054" x2="9389" y2="79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2667" y="2226398"/>
            <a:ext cx="6539424" cy="4772281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EB107B2-7DF4-27F8-D83F-A963284C9FE9}"/>
              </a:ext>
            </a:extLst>
          </p:cNvPr>
          <p:cNvSpPr/>
          <p:nvPr/>
        </p:nvSpPr>
        <p:spPr>
          <a:xfrm>
            <a:off x="791051" y="1471149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выставления текущих и аттестационных оценок</a:t>
            </a:r>
            <a:endParaRPr lang="en-US" sz="2400" dirty="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D745A34-4D0B-D40F-F337-20F5BBB35A6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5602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6AC4-C82F-FF9E-5A62-E2686612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E5B1472-3370-13A5-21AE-0D33BECB8B30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A4D1CB-BD1B-4DFD-0F4D-D5A0A4715F06}"/>
              </a:ext>
            </a:extLst>
          </p:cNvPr>
          <p:cNvSpPr/>
          <p:nvPr/>
        </p:nvSpPr>
        <p:spPr>
          <a:xfrm>
            <a:off x="1061294" y="1382114"/>
            <a:ext cx="12423212" cy="6600572"/>
          </a:xfrm>
          <a:prstGeom prst="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B4EEA5-6FA5-112E-5A69-9AD403570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1687" y="3670624"/>
            <a:ext cx="3334543" cy="4177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4C71A0-019A-B778-8952-2874EE05F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257" r="92890">
                        <a14:foregroundMark x1="8486" y1="10667" x2="21560" y2="19333"/>
                        <a14:foregroundMark x1="21560" y1="19333" x2="68349" y2="25333"/>
                        <a14:foregroundMark x1="68349" y1="25333" x2="64450" y2="42667"/>
                        <a14:foregroundMark x1="64450" y1="42667" x2="49541" y2="54333"/>
                        <a14:foregroundMark x1="49541" y1="54333" x2="40596" y2="70667"/>
                        <a14:foregroundMark x1="40596" y1="70667" x2="25688" y2="78667"/>
                        <a14:foregroundMark x1="25688" y1="78667" x2="13991" y2="71333"/>
                        <a14:foregroundMark x1="13991" y1="71333" x2="11697" y2="34333"/>
                        <a14:foregroundMark x1="11697" y1="34333" x2="53211" y2="22000"/>
                        <a14:foregroundMark x1="53211" y1="22000" x2="54358" y2="63333"/>
                        <a14:foregroundMark x1="54358" y1="63333" x2="75459" y2="53333"/>
                        <a14:foregroundMark x1="75459" y1="53333" x2="83716" y2="76333"/>
                        <a14:foregroundMark x1="83716" y1="76333" x2="88303" y2="21667"/>
                        <a14:foregroundMark x1="88303" y1="21667" x2="92890" y2="40667"/>
                        <a14:foregroundMark x1="92890" y1="40667" x2="89908" y2="50333"/>
                        <a14:foregroundMark x1="85321" y1="82000" x2="87156" y2="58333"/>
                        <a14:foregroundMark x1="90596" y1="67000" x2="71330" y2="83667"/>
                        <a14:foregroundMark x1="71330" y1="83667" x2="14908" y2="88667"/>
                        <a14:foregroundMark x1="14908" y1="88667" x2="8716" y2="64333"/>
                        <a14:foregroundMark x1="8716" y1="64333" x2="11927" y2="43667"/>
                        <a14:foregroundMark x1="86239" y1="77667" x2="91284" y2="60000"/>
                        <a14:foregroundMark x1="91284" y1="60000" x2="91284" y2="56333"/>
                        <a14:foregroundMark x1="87615" y1="81000" x2="78899" y2="87667"/>
                        <a14:foregroundMark x1="90826" y1="77000" x2="88761" y2="85000"/>
                        <a14:foregroundMark x1="52294" y1="67000" x2="37385" y2="50333"/>
                        <a14:foregroundMark x1="37385" y1="50333" x2="54128" y2="56333"/>
                        <a14:foregroundMark x1="54128" y1="56333" x2="72936" y2="39333"/>
                        <a14:foregroundMark x1="72936" y1="39333" x2="72706" y2="22000"/>
                        <a14:foregroundMark x1="72706" y1="22000" x2="38991" y2="20667"/>
                        <a14:foregroundMark x1="64908" y1="23667" x2="79587" y2="25333"/>
                        <a14:foregroundMark x1="79587" y1="25333" x2="71101" y2="50667"/>
                        <a14:foregroundMark x1="71101" y1="50667" x2="70872" y2="55667"/>
                        <a14:foregroundMark x1="82110" y1="28667" x2="77982" y2="59667"/>
                        <a14:foregroundMark x1="57569" y1="68333" x2="78670" y2="61000"/>
                        <a14:foregroundMark x1="33257" y1="52000" x2="22248" y2="61000"/>
                        <a14:foregroundMark x1="22248" y1="61000" x2="38073" y2="51333"/>
                        <a14:foregroundMark x1="38073" y1="51333" x2="25229" y2="38000"/>
                        <a14:foregroundMark x1="25229" y1="38000" x2="17202" y2="46667"/>
                        <a14:foregroundMark x1="10550" y1="20667" x2="13073" y2="67333"/>
                        <a14:foregroundMark x1="13073" y1="67333" x2="32110" y2="48333"/>
                        <a14:foregroundMark x1="32110" y1="48333" x2="23624" y2="19000"/>
                        <a14:foregroundMark x1="23624" y1="19000" x2="10780" y2="21333"/>
                        <a14:foregroundMark x1="29817" y1="37333" x2="20413" y2="49000"/>
                        <a14:foregroundMark x1="20413" y1="49000" x2="40826" y2="70333"/>
                        <a14:foregroundMark x1="40826" y1="70333" x2="35092" y2="37667"/>
                        <a14:foregroundMark x1="35092" y1="37667" x2="18578" y2="51000"/>
                        <a14:foregroundMark x1="59174" y1="40000" x2="40826" y2="52667"/>
                        <a14:foregroundMark x1="40826" y1="52667" x2="32569" y2="42000"/>
                        <a14:foregroundMark x1="25688" y1="16333" x2="87844" y2="15000"/>
                        <a14:foregroundMark x1="27982" y1="59333" x2="25917" y2="65667"/>
                        <a14:foregroundMark x1="29587" y1="66333" x2="31881" y2="59667"/>
                        <a14:foregroundMark x1="18578" y1="67333" x2="17431" y2="69000"/>
                        <a14:foregroundMark x1="24771" y1="66000" x2="25459" y2="66667"/>
                        <a14:foregroundMark x1="9174" y1="82333" x2="8257" y2="83333"/>
                        <a14:foregroundMark x1="8716" y1="79333" x2="8716" y2="77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98327" y="1286663"/>
            <a:ext cx="3686179" cy="253636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017DDBB-294C-1327-485C-353618F3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94" b="96813" l="3232" r="95437">
                        <a14:foregroundMark x1="8365" y1="4856" x2="64259" y2="14112"/>
                        <a14:foregroundMark x1="64259" y1="14112" x2="35551" y2="80880"/>
                        <a14:foregroundMark x1="35551" y1="80880" x2="40304" y2="92716"/>
                        <a14:foregroundMark x1="40304" y1="92716" x2="45437" y2="95144"/>
                        <a14:foregroundMark x1="68251" y1="90440" x2="64639" y2="79059"/>
                        <a14:foregroundMark x1="64639" y1="79059" x2="66350" y2="23672"/>
                        <a14:foregroundMark x1="57224" y1="42944" x2="29468" y2="53566"/>
                        <a14:foregroundMark x1="29468" y1="53566" x2="12928" y2="75873"/>
                        <a14:foregroundMark x1="12928" y1="75873" x2="9316" y2="88771"/>
                        <a14:foregroundMark x1="9316" y1="88771" x2="6274" y2="18665"/>
                        <a14:foregroundMark x1="6274" y1="18665" x2="7985" y2="9256"/>
                        <a14:foregroundMark x1="7985" y1="9256" x2="29278" y2="6525"/>
                        <a14:foregroundMark x1="29278" y1="6525" x2="45437" y2="23217"/>
                        <a14:foregroundMark x1="45437" y1="23217" x2="28137" y2="43854"/>
                        <a14:foregroundMark x1="5133" y1="10167" x2="3612" y2="28225"/>
                        <a14:foregroundMark x1="3612" y1="28225" x2="3992" y2="29439"/>
                        <a14:foregroundMark x1="5703" y1="7284" x2="16920" y2="3794"/>
                        <a14:foregroundMark x1="16920" y1="3794" x2="19582" y2="3945"/>
                        <a14:foregroundMark x1="95247" y1="5008" x2="95247" y2="17299"/>
                        <a14:foregroundMark x1="12167" y1="92716" x2="14639" y2="95296"/>
                        <a14:foregroundMark x1="17871" y1="96965" x2="24715" y2="92716"/>
                        <a14:foregroundMark x1="15589" y1="93020" x2="20722" y2="93020"/>
                        <a14:foregroundMark x1="95437" y1="39454" x2="94106" y2="353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4382" y="3618380"/>
            <a:ext cx="3334543" cy="4177689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509C6B68-36CF-690F-2E26-D7FFFB732230}"/>
              </a:ext>
            </a:extLst>
          </p:cNvPr>
          <p:cNvSpPr/>
          <p:nvPr/>
        </p:nvSpPr>
        <p:spPr>
          <a:xfrm>
            <a:off x="1061294" y="260410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Статистика и взаимодействие с ведомостями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999EDB9-CCEC-7B3D-65AC-71E1B62F9F1D}"/>
              </a:ext>
            </a:extLst>
          </p:cNvPr>
          <p:cNvSpPr/>
          <p:nvPr/>
        </p:nvSpPr>
        <p:spPr>
          <a:xfrm>
            <a:off x="1145894" y="908383"/>
            <a:ext cx="11608615" cy="45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Формы статистики, скачивания и электронной рассылки ведомостей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85F8E3-CAF8-08AD-5D2F-2AF3A65F5D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06" b="99041" l="1632" r="98368">
                        <a14:foregroundMark x1="2176" y1="3945" x2="6682" y2="1919"/>
                        <a14:foregroundMark x1="6682" y1="1919" x2="12432" y2="1812"/>
                        <a14:foregroundMark x1="12432" y1="1812" x2="28516" y2="2665"/>
                        <a14:foregroundMark x1="28516" y1="2665" x2="37529" y2="2559"/>
                        <a14:foregroundMark x1="37529" y1="2559" x2="58042" y2="2665"/>
                        <a14:foregroundMark x1="58042" y1="2665" x2="89200" y2="1812"/>
                        <a14:foregroundMark x1="89200" y1="1812" x2="94095" y2="2878"/>
                        <a14:foregroundMark x1="94095" y1="2878" x2="97824" y2="6183"/>
                        <a14:foregroundMark x1="97824" y1="6183" x2="97280" y2="31876"/>
                        <a14:foregroundMark x1="95260" y1="31023" x2="93784" y2="12687"/>
                        <a14:foregroundMark x1="93784" y1="12687" x2="97203" y2="1812"/>
                        <a14:foregroundMark x1="82984" y1="9062" x2="3807" y2="3838"/>
                        <a14:foregroundMark x1="3807" y1="3838" x2="1787" y2="37633"/>
                        <a14:foregroundMark x1="1787" y1="37633" x2="2020" y2="50320"/>
                        <a14:foregroundMark x1="2409" y1="57463" x2="10256" y2="43817"/>
                        <a14:foregroundMark x1="10256" y1="43817" x2="8702" y2="60768"/>
                        <a14:foregroundMark x1="8702" y1="60768" x2="3963" y2="70576"/>
                        <a14:foregroundMark x1="3963" y1="70576" x2="1632" y2="93284"/>
                        <a14:foregroundMark x1="1632" y1="93284" x2="7848" y2="96162"/>
                        <a14:foregroundMark x1="7848" y1="96162" x2="9091" y2="96162"/>
                        <a14:foregroundMark x1="10567" y1="97548" x2="24942" y2="99147"/>
                        <a14:foregroundMark x1="24942" y1="99147" x2="29915" y2="97974"/>
                        <a14:foregroundMark x1="30769" y1="99041" x2="39782" y2="98827"/>
                        <a14:foregroundMark x1="39782" y1="98827" x2="44833" y2="98934"/>
                        <a14:foregroundMark x1="44833" y1="98934" x2="54934" y2="98614"/>
                        <a14:foregroundMark x1="54934" y1="98614" x2="60839" y2="98721"/>
                        <a14:foregroundMark x1="60839" y1="98721" x2="67055" y2="98614"/>
                        <a14:foregroundMark x1="67055" y1="98614" x2="89588" y2="99147"/>
                        <a14:foregroundMark x1="89588" y1="99147" x2="95960" y2="98401"/>
                        <a14:foregroundMark x1="95960" y1="98401" x2="98368" y2="93070"/>
                        <a14:foregroundMark x1="98368" y1="93070" x2="97902" y2="28891"/>
                        <a14:foregroundMark x1="89977" y1="14925" x2="91298" y2="8209"/>
                        <a14:foregroundMark x1="91298" y1="8209" x2="91686" y2="7676"/>
                        <a14:foregroundMark x1="97280" y1="45629" x2="97980" y2="389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894" y="1482024"/>
            <a:ext cx="8734983" cy="6366289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A6D40E70-658F-D68B-0862-D4B3B6CA63B7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8653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3CD3-B0BA-A031-FC6D-C49B4BBA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EDA87C-FC7F-3B31-7BF2-460CD64D7D6A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AD1B287-E9A4-45EE-E727-4E5F7730B1FD}"/>
              </a:ext>
            </a:extLst>
          </p:cNvPr>
          <p:cNvSpPr/>
          <p:nvPr/>
        </p:nvSpPr>
        <p:spPr>
          <a:xfrm>
            <a:off x="449943" y="1669143"/>
            <a:ext cx="13498286" cy="6314390"/>
          </a:xfrm>
          <a:prstGeom prst="roundRect">
            <a:avLst/>
          </a:prstGeom>
          <a:solidFill>
            <a:srgbClr val="D4E9F7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1E555F2-3E04-90DC-DEB9-127285129A45}"/>
              </a:ext>
            </a:extLst>
          </p:cNvPr>
          <p:cNvSpPr/>
          <p:nvPr/>
        </p:nvSpPr>
        <p:spPr>
          <a:xfrm>
            <a:off x="449944" y="173132"/>
            <a:ext cx="124232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Результат работы программы</a:t>
            </a:r>
            <a:endParaRPr lang="en-US" sz="445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9750F8-AAD6-E536-022F-6D60B2D2B792}"/>
              </a:ext>
            </a:extLst>
          </p:cNvPr>
          <p:cNvSpPr/>
          <p:nvPr/>
        </p:nvSpPr>
        <p:spPr>
          <a:xfrm>
            <a:off x="449943" y="835448"/>
            <a:ext cx="1278427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Созданная в программе ведомость по шаблону, имеющемуся в твердой копии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и сообщение, полученное в результате электронной рассылки</a:t>
            </a:r>
            <a:endParaRPr lang="en-US" sz="2400" dirty="0"/>
          </a:p>
        </p:txBody>
      </p:sp>
      <p:pic>
        <p:nvPicPr>
          <p:cNvPr id="2" name="Рисунок 1" descr="Изображение выглядит как текст, число, чек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E88F7B9-3360-90BE-3A0C-A54EAC156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87" y="1954823"/>
            <a:ext cx="4093586" cy="578893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9647010-B88D-885C-94D9-6F497C208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503" y="1936070"/>
            <a:ext cx="4093586" cy="57889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9E30D-3B6F-48D4-B795-51897E053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3919" y="3258034"/>
            <a:ext cx="4151182" cy="3136608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5CF97F98-E1CC-4870-2A93-40A71D29290C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330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2937"/>
            <a:ext cx="737496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ru-RU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Заключение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1" y="4613221"/>
            <a:ext cx="4190762" cy="2590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2261" y="7453575"/>
            <a:ext cx="3181221" cy="702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Экономия</a:t>
            </a:r>
            <a:r>
              <a:rPr lang="en-US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времени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001" y="4613221"/>
            <a:ext cx="4190762" cy="25900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11607" y="7474055"/>
            <a:ext cx="4305550" cy="75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Локальное</a:t>
            </a: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US" sz="2400" dirty="0" err="1">
                <a:solidFill>
                  <a:srgbClr val="384653"/>
                </a:solidFill>
                <a:latin typeface="Montserrat" pitchFamily="34" charset="0"/>
              </a:rPr>
              <a:t>развертывание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511" y="4613221"/>
            <a:ext cx="4190762" cy="2590086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48C373F-13EC-E30D-77FE-6C8059EB637E}"/>
              </a:ext>
            </a:extLst>
          </p:cNvPr>
          <p:cNvSpPr/>
          <p:nvPr/>
        </p:nvSpPr>
        <p:spPr>
          <a:xfrm>
            <a:off x="12601575" y="7591425"/>
            <a:ext cx="1933575" cy="5314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3F9F6-8A51-2CB9-DF12-8840B567AA63}"/>
              </a:ext>
            </a:extLst>
          </p:cNvPr>
          <p:cNvSpPr txBox="1"/>
          <p:nvPr/>
        </p:nvSpPr>
        <p:spPr>
          <a:xfrm>
            <a:off x="654874" y="3935828"/>
            <a:ext cx="1348204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Реализованное приложение дает множество преимуществ, среди которых:</a:t>
            </a:r>
            <a:endParaRPr lang="en-US" sz="2400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84BF052-C31A-FB05-3B0B-EE9509653ACF}"/>
              </a:ext>
            </a:extLst>
          </p:cNvPr>
          <p:cNvSpPr/>
          <p:nvPr/>
        </p:nvSpPr>
        <p:spPr>
          <a:xfrm>
            <a:off x="13821273" y="7454726"/>
            <a:ext cx="557917" cy="483472"/>
          </a:xfrm>
          <a:prstGeom prst="ellipse">
            <a:avLst/>
          </a:prstGeom>
          <a:solidFill>
            <a:srgbClr val="D4E9F7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14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122296-3667-4F63-8F7C-CF22FF092E8A}"/>
              </a:ext>
            </a:extLst>
          </p:cNvPr>
          <p:cNvSpPr txBox="1"/>
          <p:nvPr/>
        </p:nvSpPr>
        <p:spPr>
          <a:xfrm>
            <a:off x="707491" y="944717"/>
            <a:ext cx="12928122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ts val="2700"/>
              </a:lnSpc>
              <a:buNone/>
              <a:defRPr sz="24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just"/>
            <a:r>
              <a:rPr lang="ru-RU" dirty="0"/>
              <a:t>Достигнута основная цель – разработано и реализовано специализированное клиент-серверное веб-приложение для автоматизации процессов учёта и анализа успеваемости студентов.</a:t>
            </a:r>
          </a:p>
        </p:txBody>
      </p:sp>
      <p:sp>
        <p:nvSpPr>
          <p:cNvPr id="10" name="Text 5"/>
          <p:cNvSpPr/>
          <p:nvPr/>
        </p:nvSpPr>
        <p:spPr>
          <a:xfrm>
            <a:off x="9821387" y="7474055"/>
            <a:ext cx="4190762" cy="438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Минимизация ошибок</a:t>
            </a:r>
            <a:endParaRPr lang="en-US" sz="24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84425-B2A2-E0C0-8B2A-2E12CD983688}"/>
              </a:ext>
            </a:extLst>
          </p:cNvPr>
          <p:cNvSpPr txBox="1"/>
          <p:nvPr/>
        </p:nvSpPr>
        <p:spPr>
          <a:xfrm>
            <a:off x="707491" y="2362428"/>
            <a:ext cx="13113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384653"/>
                </a:solidFill>
                <a:latin typeface="Montserrat" pitchFamily="34" charset="0"/>
              </a:rPr>
              <a:t>Успешно решены задачи автоматического формирования ведомостей, учёта посещаемости и оценок, аналитики по различным параметрам, рассылки отчётной документации и безопасного хранения данных.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505</Words>
  <Application>Microsoft Office PowerPoint</Application>
  <PresentationFormat>Произвольный</PresentationFormat>
  <Paragraphs>140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Barlow Bold</vt:lpstr>
      <vt:lpstr>Montserrat</vt:lpstr>
      <vt:lpstr>Arial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 Vysotsky</cp:lastModifiedBy>
  <cp:revision>29</cp:revision>
  <dcterms:created xsi:type="dcterms:W3CDTF">2025-05-11T21:36:33Z</dcterms:created>
  <dcterms:modified xsi:type="dcterms:W3CDTF">2025-06-14T22:07:50Z</dcterms:modified>
</cp:coreProperties>
</file>