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6" r:id="rId4"/>
    <p:sldId id="259" r:id="rId5"/>
    <p:sldId id="260" r:id="rId6"/>
    <p:sldId id="268" r:id="rId7"/>
    <p:sldId id="261" r:id="rId8"/>
    <p:sldId id="262" r:id="rId9"/>
    <p:sldId id="263" r:id="rId10"/>
    <p:sldId id="265" r:id="rId11"/>
    <p:sldId id="267" r:id="rId12"/>
    <p:sldId id="264" r:id="rId13"/>
  </p:sldIdLst>
  <p:sldSz cx="14630400" cy="8229600"/>
  <p:notesSz cx="8229600" cy="14630400"/>
  <p:embeddedFontLst>
    <p:embeddedFont>
      <p:font typeface="Barlow Bold" panose="020B0604020202020204" charset="0"/>
      <p:bold r:id="rId16"/>
    </p:embeddedFont>
    <p:embeddedFont>
      <p:font typeface="Montserrat" panose="00000500000000000000" pitchFamily="2" charset="-52"/>
      <p:regular r:id="rId17"/>
      <p:bold r:id="rId18"/>
      <p:italic r:id="rId19"/>
      <p:bold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21.05.2025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A814-0DE1-A0E5-54D5-8E91EB76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23F5-9349-440F-59DB-DF90642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0B4D-3A5E-8C03-5B78-A19A2AD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C91D-F84A-E9C6-6E6D-1987C656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2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3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4.wdp"/><Relationship Id="rId5" Type="http://schemas.openxmlformats.org/officeDocument/2006/relationships/image" Target="../media/image35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296179"/>
            <a:ext cx="7627382" cy="287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Программное средство а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втоматизаци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процессов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учета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анализа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успеваемости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студентов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58309" y="570214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309" y="5099416"/>
            <a:ext cx="7973709" cy="1552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Выполнил: Высоцкий Максим Леонидович,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 группы 10702121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Руководитель: </a:t>
            </a:r>
            <a:r>
              <a:rPr lang="ru-RU" sz="2400" dirty="0" err="1">
                <a:solidFill>
                  <a:srgbClr val="384653"/>
                </a:solidFill>
                <a:latin typeface="Montserrat" pitchFamily="34" charset="0"/>
              </a:rPr>
              <a:t>Сидорик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Валерий Владимирович,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к.ф.-м.н., доцент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2400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3AEE0C5A-3B8A-FCDE-42BB-9BEEA7F92AEB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542831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106849F-4AA3-D45F-9E4B-A699ED02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60" y="3470374"/>
            <a:ext cx="1161956" cy="90646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75BF7AF-A458-7F9F-347E-92CF1250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601" y="3944631"/>
            <a:ext cx="218156" cy="27263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15A8A6-71B7-C9D8-0A7F-8F0A05B0D8BF}"/>
              </a:ext>
            </a:extLst>
          </p:cNvPr>
          <p:cNvSpPr/>
          <p:nvPr/>
        </p:nvSpPr>
        <p:spPr>
          <a:xfrm>
            <a:off x="4031073" y="3730168"/>
            <a:ext cx="987584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Реализация расчета статистики по группам</a:t>
            </a:r>
            <a:endParaRPr lang="en-US" sz="2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86A36499-EC6B-C659-0954-AC90E1E68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782" y="4397375"/>
            <a:ext cx="2323912" cy="906462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DACD523-7497-C0F7-17ED-DD7161688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601" y="4714231"/>
            <a:ext cx="218156" cy="27263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74CC5FE-A116-1AB1-C099-43FDB0E74EAC}"/>
              </a:ext>
            </a:extLst>
          </p:cNvPr>
          <p:cNvSpPr/>
          <p:nvPr/>
        </p:nvSpPr>
        <p:spPr>
          <a:xfrm>
            <a:off x="4620934" y="4640151"/>
            <a:ext cx="92055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электронной рассылки ведомостей</a:t>
            </a:r>
            <a:endParaRPr lang="en-US" sz="24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D379058-5590-A34A-3966-D9BD37441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804" y="5324376"/>
            <a:ext cx="3485868" cy="906462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A6A6A96A-A53C-B247-2FC4-D5303FD3D6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1601" y="5641232"/>
            <a:ext cx="218156" cy="27263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C786ED22-5B53-8514-8884-0D808D85D533}"/>
              </a:ext>
            </a:extLst>
          </p:cNvPr>
          <p:cNvSpPr/>
          <p:nvPr/>
        </p:nvSpPr>
        <p:spPr>
          <a:xfrm>
            <a:off x="5263155" y="5578602"/>
            <a:ext cx="847294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заполнения документации</a:t>
            </a:r>
            <a:endParaRPr lang="en-US" sz="2400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37F8B348-1D0B-CC91-F24F-DCDC88B17D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26" y="6251377"/>
            <a:ext cx="4647824" cy="906462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B763EC26-8FF0-3877-FD9F-E61F6EBE91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601" y="6568233"/>
            <a:ext cx="218156" cy="27263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EAB02D77-23EF-8ECB-A585-FE8BAF9CE73C}"/>
              </a:ext>
            </a:extLst>
          </p:cNvPr>
          <p:cNvSpPr/>
          <p:nvPr/>
        </p:nvSpPr>
        <p:spPr>
          <a:xfrm>
            <a:off x="5836298" y="6494153"/>
            <a:ext cx="85931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Создание удобного средства учета успеваемости</a:t>
            </a:r>
            <a:endParaRPr lang="en-US" sz="24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472225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реализация программного средства автоматизации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2781552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A05CD534-53E3-CFFA-7503-784E5AA1F517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часть с App Router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FE95CC7B-5DC7-FD1A-6EAF-EF483FB9461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CC734D9-A713-7CE3-5D25-1DBFB3F9C713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D2A4C11-2C4B-3D3F-83F0-382063841BC5}"/>
              </a:ext>
            </a:extLst>
          </p:cNvPr>
          <p:cNvSpPr/>
          <p:nvPr/>
        </p:nvSpPr>
        <p:spPr>
          <a:xfrm>
            <a:off x="427355" y="1617757"/>
            <a:ext cx="6934499" cy="4587685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18F622E-7661-07A5-4FA6-4C02DDB207AB}"/>
              </a:ext>
            </a:extLst>
          </p:cNvPr>
          <p:cNvSpPr/>
          <p:nvPr/>
        </p:nvSpPr>
        <p:spPr>
          <a:xfrm>
            <a:off x="755760" y="201296"/>
            <a:ext cx="6303459" cy="152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Диаграмма вариантов 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использования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7851AD-4058-E578-FC9F-035FA2F57EB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FA3793CF-7580-DE01-FDAA-5B7CF4D3268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6</a:t>
            </a:r>
            <a:endParaRPr lang="ru-RU" dirty="0"/>
          </a:p>
        </p:txBody>
      </p:sp>
      <p:pic>
        <p:nvPicPr>
          <p:cNvPr id="11" name="Рисунок 10" descr="Изображение выглядит как текст, диаграмма, документ, ч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98273E8-1A05-3131-AE00-4235F1EF5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854" y="197174"/>
            <a:ext cx="6303459" cy="7925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6184A5-7ED7-865C-7B02-41FE4048CA53}"/>
              </a:ext>
            </a:extLst>
          </p:cNvPr>
          <p:cNvSpPr txBox="1"/>
          <p:nvPr/>
        </p:nvSpPr>
        <p:spPr>
          <a:xfrm>
            <a:off x="755760" y="1834108"/>
            <a:ext cx="63034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Диаграмма вариантов использования отражает взаимодействие пользователей с системой на концептуальном уровне.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Администратор управляет пользователями, ведомостями, студентами, дисциплинами и статистикой.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Преподаватели работают с ведомостями, выставляют оценки.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Гостям доступен просмотр статистики и базовые функции безопасности</a:t>
            </a: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64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Система безопасности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7DE2DF5-4327-DEF8-FC35-62917A2759D9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7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Загрузка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</a:t>
            </a: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32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DOCX-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олями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заполнения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12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23FCB62-35F1-A807-7B53-6EA346ADBF79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21EFC4-308E-4479-65CF-44A9381BC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2B7F0C-1A2E-81B9-EB39-DFE02FB63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C8FDC251-FF17-3133-38A5-EDD373AD58A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9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1061294" y="1382114"/>
            <a:ext cx="12423212" cy="6600572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1687" y="3670624"/>
            <a:ext cx="3334543" cy="4177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8327" y="1286663"/>
            <a:ext cx="3686179" cy="25363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06FB39-6FCF-BE3E-D308-A4F1B9A7FA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428" b="93737" l="4917" r="96899">
                        <a14:foregroundMark x1="3026" y1="3445" x2="10893" y2="7516"/>
                        <a14:foregroundMark x1="10893" y1="7516" x2="4690" y2="27766"/>
                        <a14:foregroundMark x1="4690" y1="27766" x2="8548" y2="31837"/>
                        <a14:foregroundMark x1="8548" y1="31837" x2="6354" y2="41023"/>
                        <a14:foregroundMark x1="6354" y1="41023" x2="9228" y2="50731"/>
                        <a14:foregroundMark x1="9228" y1="50731" x2="24130" y2="52505"/>
                        <a14:foregroundMark x1="24130" y1="52505" x2="64675" y2="81002"/>
                        <a14:foregroundMark x1="64675" y1="81002" x2="66793" y2="59499"/>
                        <a14:foregroundMark x1="66793" y1="59499" x2="57262" y2="71190"/>
                        <a14:foregroundMark x1="57262" y1="71190" x2="70877" y2="85595"/>
                        <a14:foregroundMark x1="70877" y1="85595" x2="92511" y2="91441"/>
                        <a14:foregroundMark x1="92511" y1="91441" x2="95764" y2="95511"/>
                        <a14:foregroundMark x1="95764" y1="95511" x2="97731" y2="81420"/>
                        <a14:foregroundMark x1="97731" y1="81420" x2="94554" y2="3132"/>
                        <a14:foregroundMark x1="94554" y1="3132" x2="40998" y2="7933"/>
                        <a14:foregroundMark x1="40998" y1="7933" x2="14750" y2="3967"/>
                        <a14:foregroundMark x1="14750" y1="3967" x2="7867" y2="5115"/>
                        <a14:foregroundMark x1="7867" y1="5115" x2="7413" y2="83299"/>
                        <a14:foregroundMark x1="7413" y1="83299" x2="2345" y2="95303"/>
                        <a14:foregroundMark x1="2345" y1="95303" x2="3707" y2="28184"/>
                        <a14:foregroundMark x1="3707" y1="28184" x2="15507" y2="17015"/>
                        <a14:foregroundMark x1="15507" y1="17015" x2="22088" y2="27453"/>
                        <a14:foregroundMark x1="22088" y1="27453" x2="45461" y2="38622"/>
                        <a14:foregroundMark x1="45461" y1="38622" x2="42436" y2="23695"/>
                        <a14:foregroundMark x1="42436" y1="23695" x2="50378" y2="13048"/>
                        <a14:foregroundMark x1="50378" y1="13048" x2="46899" y2="33820"/>
                        <a14:foregroundMark x1="46899" y1="33820" x2="49697" y2="71190"/>
                        <a14:foregroundMark x1="49697" y1="71190" x2="54312" y2="80793"/>
                        <a14:foregroundMark x1="54312" y1="80793" x2="25416" y2="87370"/>
                        <a14:foregroundMark x1="25416" y1="87370" x2="18003" y2="93841"/>
                        <a14:foregroundMark x1="18003" y1="93841" x2="11800" y2="96242"/>
                        <a14:foregroundMark x1="11800" y1="96242" x2="18079" y2="96660"/>
                        <a14:foregroundMark x1="18079" y1="96660" x2="36687" y2="93633"/>
                        <a14:foregroundMark x1="36687" y1="93633" x2="44402" y2="93737"/>
                        <a14:foregroundMark x1="81089" y1="52505" x2="62784" y2="54593"/>
                        <a14:foregroundMark x1="62784" y1="54593" x2="48109" y2="46138"/>
                        <a14:foregroundMark x1="48109" y1="46138" x2="68457" y2="25678"/>
                        <a14:foregroundMark x1="68457" y1="25678" x2="73449" y2="24322"/>
                        <a14:foregroundMark x1="73828" y1="61378" x2="80106" y2="55115"/>
                        <a14:foregroundMark x1="80106" y1="55115" x2="84569" y2="28079"/>
                        <a14:foregroundMark x1="84569" y1="28079" x2="81770" y2="18580"/>
                        <a14:foregroundMark x1="92587" y1="40292" x2="92965" y2="52923"/>
                        <a14:foregroundMark x1="92965" y1="52923" x2="76929" y2="76096"/>
                        <a14:foregroundMark x1="76929" y1="76096" x2="62330" y2="42380"/>
                        <a14:foregroundMark x1="62330" y1="42380" x2="83207" y2="28914"/>
                        <a14:foregroundMark x1="83207" y1="28914" x2="84342" y2="67641"/>
                        <a14:foregroundMark x1="38351" y1="31628" x2="28215" y2="24739"/>
                        <a14:foregroundMark x1="28215" y1="24739" x2="11044" y2="48225"/>
                        <a14:foregroundMark x1="11044" y1="48225" x2="38654" y2="70146"/>
                        <a14:foregroundMark x1="38654" y1="70146" x2="55673" y2="50418"/>
                        <a14:foregroundMark x1="55673" y1="50418" x2="55219" y2="45094"/>
                        <a14:foregroundMark x1="35250" y1="39562" x2="20651" y2="52714"/>
                        <a14:foregroundMark x1="20651" y1="52714" x2="33207" y2="80376"/>
                        <a14:foregroundMark x1="33207" y1="80376" x2="39486" y2="42902"/>
                        <a14:foregroundMark x1="39486" y1="42902" x2="8245" y2="59812"/>
                        <a14:foregroundMark x1="8245" y1="59812" x2="9834" y2="68789"/>
                        <a14:foregroundMark x1="30560" y1="54071" x2="18381" y2="65031"/>
                        <a14:foregroundMark x1="18381" y1="65031" x2="26248" y2="86430"/>
                        <a14:foregroundMark x1="26248" y1="86430" x2="15734" y2="62109"/>
                        <a14:foregroundMark x1="15734" y1="62109" x2="5068" y2="81420"/>
                        <a14:foregroundMark x1="5068" y1="81420" x2="7640" y2="83612"/>
                        <a14:foregroundMark x1="8775" y1="8768" x2="63389" y2="4071"/>
                        <a14:foregroundMark x1="63389" y1="4071" x2="84796" y2="5532"/>
                        <a14:foregroundMark x1="84796" y1="5532" x2="85023" y2="5637"/>
                        <a14:foregroundMark x1="85779" y1="11795" x2="18457" y2="14405"/>
                        <a14:foregroundMark x1="18457" y1="14405" x2="79123" y2="10647"/>
                        <a14:foregroundMark x1="79123" y1="10647" x2="75038" y2="11587"/>
                        <a14:foregroundMark x1="95537" y1="5846" x2="96899" y2="46347"/>
                        <a14:foregroundMark x1="93646" y1="75052" x2="92057" y2="17537"/>
                        <a14:foregroundMark x1="85779" y1="78706" x2="84115" y2="86117"/>
                        <a14:foregroundMark x1="84115" y1="86117" x2="86157" y2="73382"/>
                        <a14:foregroundMark x1="86157" y1="73382" x2="74433" y2="75783"/>
                        <a14:foregroundMark x1="74433" y1="75783" x2="62935" y2="90084"/>
                        <a14:foregroundMark x1="62935" y1="90084" x2="34947" y2="88309"/>
                        <a14:foregroundMark x1="34947" y1="88309" x2="34796" y2="87474"/>
                        <a14:foregroundMark x1="12405" y1="31837" x2="20802" y2="33299"/>
                        <a14:foregroundMark x1="20802" y1="33299" x2="54539" y2="30063"/>
                        <a14:foregroundMark x1="54539" y1="30063" x2="47428" y2="32881"/>
                        <a14:foregroundMark x1="65582" y1="21503" x2="47352" y2="26200"/>
                        <a14:foregroundMark x1="47352" y1="26200" x2="57564" y2="29436"/>
                        <a14:foregroundMark x1="57564" y1="29436" x2="60363" y2="17745"/>
                        <a14:foregroundMark x1="60363" y1="17745" x2="35325" y2="19729"/>
                        <a14:foregroundMark x1="13011" y1="23904" x2="17322" y2="22025"/>
                        <a14:foregroundMark x1="17322" y1="22025" x2="12405" y2="24948"/>
                        <a14:backgroundMark x1="1135" y1="6472" x2="1059" y2="939"/>
                        <a14:backgroundMark x1="908" y1="9395" x2="378" y2="360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294" y="1426897"/>
            <a:ext cx="8923088" cy="64662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017DDBB-294C-1327-485C-353618F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4382" y="3618380"/>
            <a:ext cx="3334543" cy="4177689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1061294" y="260410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145894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FDFF9FCF-7723-769E-B0E0-1429A529AD7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3CD3-B0BA-A031-FC6D-C49B4BBA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EDA87C-FC7F-3B31-7BF2-460CD64D7D6A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AD1B287-E9A4-45EE-E727-4E5F7730B1FD}"/>
              </a:ext>
            </a:extLst>
          </p:cNvPr>
          <p:cNvSpPr/>
          <p:nvPr/>
        </p:nvSpPr>
        <p:spPr>
          <a:xfrm>
            <a:off x="1265555" y="1418209"/>
            <a:ext cx="11745595" cy="6519989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1E555F2-3E04-90DC-DEB9-127285129A45}"/>
              </a:ext>
            </a:extLst>
          </p:cNvPr>
          <p:cNvSpPr/>
          <p:nvPr/>
        </p:nvSpPr>
        <p:spPr>
          <a:xfrm>
            <a:off x="1265556" y="246067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 работы программы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9750F8-AAD6-E536-022F-6D60B2D2B792}"/>
              </a:ext>
            </a:extLst>
          </p:cNvPr>
          <p:cNvSpPr/>
          <p:nvPr/>
        </p:nvSpPr>
        <p:spPr>
          <a:xfrm>
            <a:off x="1265555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Созданная в программе ведомость и электронное сообщение</a:t>
            </a:r>
            <a:endParaRPr lang="en-US" sz="2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FBC8E0C-4A26-3197-6F55-C7CBE60E7C0B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11</a:t>
            </a:r>
            <a:endParaRPr lang="ru-RU" dirty="0"/>
          </a:p>
        </p:txBody>
      </p:sp>
      <p:pic>
        <p:nvPicPr>
          <p:cNvPr id="2" name="Рисунок 1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88F7B9-3360-90BE-3A0C-A54EAC1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863" y="1545203"/>
            <a:ext cx="4438706" cy="627698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647010-B88D-885C-94D9-6F497C20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26" y="1546499"/>
            <a:ext cx="4438706" cy="62769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9E30D-3B6F-48D4-B795-51897E053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526" y="4468329"/>
            <a:ext cx="4438706" cy="335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9671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62833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23667"/>
            <a:ext cx="2910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309" y="6346982"/>
            <a:ext cx="4190762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рутинных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операций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62833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5523667"/>
            <a:ext cx="4039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Локальное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развертывание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5219819" y="635650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Независимость от внешних сервисов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62833"/>
            <a:ext cx="4190762" cy="2590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5523667"/>
            <a:ext cx="4190762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Повышение эффективности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9681329" y="6356508"/>
            <a:ext cx="4190762" cy="69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учете</a:t>
            </a:r>
            <a:endParaRPr lang="en-US" sz="24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758309" y="1828706"/>
            <a:ext cx="1107101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следующие преимущества:</a:t>
            </a:r>
            <a:endParaRPr lang="en-US" sz="24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3F47D8A-925D-2787-E045-3147E9F45205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  <a:r>
              <a:rPr lang="ru-RU" sz="1600" dirty="0"/>
              <a:t>2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369</Words>
  <Application>Microsoft Office PowerPoint</Application>
  <PresentationFormat>Произвольный</PresentationFormat>
  <Paragraphs>113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Barlow Bold</vt:lpstr>
      <vt:lpstr>Montserrat</vt:lpstr>
      <vt:lpstr>Arial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14</cp:revision>
  <dcterms:created xsi:type="dcterms:W3CDTF">2025-05-11T21:36:33Z</dcterms:created>
  <dcterms:modified xsi:type="dcterms:W3CDTF">2025-05-21T06:39:41Z</dcterms:modified>
</cp:coreProperties>
</file>