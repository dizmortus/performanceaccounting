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266" r:id="rId4"/>
    <p:sldId id="259" r:id="rId5"/>
    <p:sldId id="260" r:id="rId6"/>
    <p:sldId id="267" r:id="rId7"/>
    <p:sldId id="261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64" r:id="rId18"/>
  </p:sldIdLst>
  <p:sldSz cx="14630400" cy="8229600"/>
  <p:notesSz cx="8229600" cy="14630400"/>
  <p:embeddedFontLst>
    <p:embeddedFont>
      <p:font typeface="Barlow Bold" panose="020B0604020202020204" charset="0"/>
      <p:bold r:id="rId21"/>
    </p:embeddedFont>
    <p:embeddedFont>
      <p:font typeface="Montserrat" panose="00000500000000000000" pitchFamily="2" charset="-52"/>
      <p:regular r:id="rId22"/>
      <p:bold r:id="rId23"/>
      <p:italic r:id="rId24"/>
      <p:boldItalic r:id="rId25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9F7"/>
    <a:srgbClr val="C0D4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338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CC0721B5-A21B-5FA5-6B99-0E02FCEC75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E7538D3-9C3C-BE40-5E12-11CE8F8523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D8EA51-91C7-4E71-9BBE-1308E0D83792}" type="datetimeFigureOut">
              <a:rPr lang="ru-RU" smtClean="0"/>
              <a:t>20.05.2025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5AC34A0-EE3A-D61F-F1B3-E27147713DC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2CD7D82-DDB0-91EB-1DC5-CFB12C555F1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E8F592-CDE7-4DE7-9EA3-E9EB83A4CB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10905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08162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F267E-A222-A789-85D4-C87C5B951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6CEBD9-E5D4-38D7-3D39-EED8090E82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DE1993-9EFE-C342-18CA-F9E6FF3ADE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F3753-55B6-D30A-B263-F271F7ECAC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7740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C235F-8D7F-356A-F129-0A5887D56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6EF047-EC19-06F4-598F-1F772C8075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6434A5-A4E5-1286-9D83-CDB931E151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73C6FC-F88E-A70E-819B-951ED2EBB1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2341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206C0-3F8D-F2F8-82EB-E2172B8B0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579B54-F241-593D-19AB-C590A795BD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56AAB6-CDF2-19C8-3FB9-9634FDF3FF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2ECC3-1236-A687-2080-D2D0EBE2DC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7825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8C9B8-8651-1C1E-9F85-41D5D066A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5E0A0B-9605-507B-5F4F-AD8D38ABFE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4A6449-CCAA-8765-9D69-9F6D8A805F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841243-C764-9404-F22A-511E92CCF7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5041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CB033-FCE8-C4E6-7558-4DE4D9A02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7985D3-2107-1230-F534-1935AC4389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868997-551A-A570-A350-CC59E31871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0E701-96D2-8DC3-5698-42DD200B2F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4320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C1C67-5A46-C2F7-F660-389439A02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F6AC7F-0A46-7084-D56D-B592B21922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1A95C8-7201-5E79-B22D-3984880B56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97D6C-492B-4372-85F9-53DF4E0756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5769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C90D0-4413-8399-E8B5-9F001E1FE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C750F6-6D94-DD2E-EFFA-B30800153A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EC2C90-E0D4-3A1E-E956-A608A16EDD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FD5CA1-22A6-CEDF-5E85-88F8FCA9FC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3078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6069B-A35B-2CF4-7161-00A6CC093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8AD1FF-818D-1774-8BB6-9F775C2506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B521D0-668D-5C9E-F957-9672CED8DE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38A677-D090-ECC6-742F-2A621A109D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5408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BFB9E-A41C-4E65-5636-7F9807968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BE905B-DDDF-5AA1-117A-8375BB30FE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739805-F2A7-656F-F557-618A4A6FA6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4A5AE9-8BD7-4DFD-9056-B4901CA72F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8607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6F67D-3567-FAB5-E355-B555A9B86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51C8CC-CD34-C59C-E689-B279F2E2D6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934423-8A61-9CBF-312D-D812D4720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7E72F1-2CB7-B207-9169-A78656785B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0440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840DF-B564-84C5-14E6-C6874B16A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46D732-88BD-B5F7-C05B-D2995A4E36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F18B2D-BFAB-631D-7C81-BC13FEEBD4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85DCF0-C1AC-15E5-B01F-561D392E58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7519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30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microsoft.com/office/2007/relationships/hdphoto" Target="../media/hdphoto3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microsoft.com/office/2007/relationships/hdphoto" Target="../media/hdphoto4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microsoft.com/office/2007/relationships/hdphoto" Target="../media/hdphoto6.wdp"/><Relationship Id="rId5" Type="http://schemas.openxmlformats.org/officeDocument/2006/relationships/image" Target="../media/image34.png"/><Relationship Id="rId4" Type="http://schemas.microsoft.com/office/2007/relationships/hdphoto" Target="../media/hdphoto5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microsoft.com/office/2007/relationships/hdphoto" Target="../media/hdphoto7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microsoft.com/office/2007/relationships/hdphoto" Target="../media/hdphoto8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435729"/>
            <a:ext cx="7627382" cy="287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Программное средство а</a:t>
            </a: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втоматизаци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 процессов</a:t>
            </a: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учета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и анализа </a:t>
            </a: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успеваемости</a:t>
            </a: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студентов</a:t>
            </a:r>
            <a:endParaRPr lang="en-US" sz="4450" dirty="0"/>
          </a:p>
        </p:txBody>
      </p:sp>
      <p:sp>
        <p:nvSpPr>
          <p:cNvPr id="7" name="Shape 4"/>
          <p:cNvSpPr/>
          <p:nvPr/>
        </p:nvSpPr>
        <p:spPr>
          <a:xfrm>
            <a:off x="758309" y="5702141"/>
            <a:ext cx="346591" cy="346591"/>
          </a:xfrm>
          <a:prstGeom prst="roundRect">
            <a:avLst>
              <a:gd name="adj" fmla="val 26380043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53976" y="5812962"/>
            <a:ext cx="7973709" cy="1552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Выполнил: Высоцкий Максим Леонидович,</a:t>
            </a:r>
          </a:p>
          <a:p>
            <a:pPr marL="0" indent="0" algn="l">
              <a:lnSpc>
                <a:spcPts val="295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студент группы 10702121</a:t>
            </a:r>
          </a:p>
          <a:p>
            <a:pPr marL="0" indent="0" algn="l">
              <a:lnSpc>
                <a:spcPts val="295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Руководитель: </a:t>
            </a:r>
            <a:r>
              <a:rPr lang="ru-RU" sz="2400" dirty="0" err="1">
                <a:solidFill>
                  <a:srgbClr val="384653"/>
                </a:solidFill>
                <a:latin typeface="Montserrat" pitchFamily="34" charset="0"/>
              </a:rPr>
              <a:t>Сидорик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 Валерий Владимирович,</a:t>
            </a:r>
          </a:p>
          <a:p>
            <a:pPr marL="0" indent="0" algn="l">
              <a:lnSpc>
                <a:spcPts val="295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к.ф.-м.н., доцент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764268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Проблемы традиционных методов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3514606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997" y="3544550"/>
            <a:ext cx="342067" cy="42755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62326" y="3589020"/>
            <a:ext cx="2974300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Временные затраты</a:t>
            </a:r>
            <a:endParaRPr lang="en-US" sz="3200" dirty="0"/>
          </a:p>
        </p:txBody>
      </p:sp>
      <p:sp>
        <p:nvSpPr>
          <p:cNvPr id="7" name="Text 3"/>
          <p:cNvSpPr/>
          <p:nvPr/>
        </p:nvSpPr>
        <p:spPr>
          <a:xfrm>
            <a:off x="1462326" y="4431387"/>
            <a:ext cx="2974300" cy="1024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Ручная обработка требует много времени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4707374" y="3514606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0062" y="3544550"/>
            <a:ext cx="342067" cy="42755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11391" y="3589020"/>
            <a:ext cx="2974300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Вероятность ошибок</a:t>
            </a:r>
            <a:endParaRPr lang="en-US" sz="3200" dirty="0"/>
          </a:p>
        </p:txBody>
      </p:sp>
      <p:sp>
        <p:nvSpPr>
          <p:cNvPr id="11" name="Text 6"/>
          <p:cNvSpPr/>
          <p:nvPr/>
        </p:nvSpPr>
        <p:spPr>
          <a:xfrm>
            <a:off x="5411391" y="4431387"/>
            <a:ext cx="2974300" cy="1024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Человеческий фактор снижает точность</a:t>
            </a:r>
            <a:endParaRPr lang="en-US" sz="2400" dirty="0"/>
          </a:p>
        </p:txBody>
      </p:sp>
      <p:sp>
        <p:nvSpPr>
          <p:cNvPr id="12" name="Shape 7"/>
          <p:cNvSpPr/>
          <p:nvPr/>
        </p:nvSpPr>
        <p:spPr>
          <a:xfrm>
            <a:off x="758309" y="6118622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997" y="6148566"/>
            <a:ext cx="342067" cy="42755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62326" y="6193036"/>
            <a:ext cx="294489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Сложность анализа</a:t>
            </a:r>
            <a:endParaRPr lang="en-US" sz="3200" dirty="0"/>
          </a:p>
        </p:txBody>
      </p:sp>
      <p:sp>
        <p:nvSpPr>
          <p:cNvPr id="15" name="Text 9"/>
          <p:cNvSpPr/>
          <p:nvPr/>
        </p:nvSpPr>
        <p:spPr>
          <a:xfrm>
            <a:off x="1462326" y="6679168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Затруднен сбор статистических данных</a:t>
            </a:r>
            <a:endParaRPr lang="en-US" sz="2400" dirty="0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3AEE0C5A-3B8A-FCDE-42BB-9BEEA7F92AEB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2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DAC92-C8C3-95F5-A884-FEC0CC018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0672D2E-C69C-DB91-69FC-0E155B10FE0D}"/>
              </a:ext>
            </a:extLst>
          </p:cNvPr>
          <p:cNvSpPr/>
          <p:nvPr/>
        </p:nvSpPr>
        <p:spPr>
          <a:xfrm>
            <a:off x="791051" y="542831"/>
            <a:ext cx="7659767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Цел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ь</a:t>
            </a: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и 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задачи</a:t>
            </a: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разработки</a:t>
            </a:r>
            <a:endParaRPr lang="en-US" sz="445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7106849F-4AA3-D45F-9E4B-A699ED024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9760" y="3470374"/>
            <a:ext cx="1161956" cy="906462"/>
          </a:xfrm>
          <a:prstGeom prst="rect">
            <a:avLst/>
          </a:prstGeom>
        </p:spPr>
      </p:pic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475BF7AF-A458-7F9F-347E-92CF1250A3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1601" y="3944631"/>
            <a:ext cx="218156" cy="272630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7315A8A6-71B7-C9D8-0A7F-8F0A05B0D8BF}"/>
              </a:ext>
            </a:extLst>
          </p:cNvPr>
          <p:cNvSpPr/>
          <p:nvPr/>
        </p:nvSpPr>
        <p:spPr>
          <a:xfrm>
            <a:off x="4031073" y="3730168"/>
            <a:ext cx="987584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Реализация расчета статистики по группам</a:t>
            </a:r>
            <a:endParaRPr lang="en-US" sz="2400" dirty="0"/>
          </a:p>
        </p:txBody>
      </p:sp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86A36499-EC6B-C659-0954-AC90E1E684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8782" y="4397375"/>
            <a:ext cx="2323912" cy="906462"/>
          </a:xfrm>
          <a:prstGeom prst="rect">
            <a:avLst/>
          </a:prstGeom>
        </p:spPr>
      </p:pic>
      <p:pic>
        <p:nvPicPr>
          <p:cNvPr id="9" name="Image 3" descr="preencoded.png">
            <a:extLst>
              <a:ext uri="{FF2B5EF4-FFF2-40B4-BE49-F238E27FC236}">
                <a16:creationId xmlns:a16="http://schemas.microsoft.com/office/drawing/2014/main" id="{0DACD523-7497-C0F7-17ED-DD71616885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1601" y="4714231"/>
            <a:ext cx="218156" cy="272630"/>
          </a:xfrm>
          <a:prstGeom prst="rect">
            <a:avLst/>
          </a:prstGeom>
        </p:spPr>
      </p:pic>
      <p:sp>
        <p:nvSpPr>
          <p:cNvPr id="11" name="Text 5">
            <a:extLst>
              <a:ext uri="{FF2B5EF4-FFF2-40B4-BE49-F238E27FC236}">
                <a16:creationId xmlns:a16="http://schemas.microsoft.com/office/drawing/2014/main" id="{C74CC5FE-A116-1AB1-C099-43FDB0E74EAC}"/>
              </a:ext>
            </a:extLst>
          </p:cNvPr>
          <p:cNvSpPr/>
          <p:nvPr/>
        </p:nvSpPr>
        <p:spPr>
          <a:xfrm>
            <a:off x="4620934" y="4640151"/>
            <a:ext cx="920559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Автоматизация электронной рассылки ведомостей</a:t>
            </a:r>
            <a:endParaRPr lang="en-US" sz="2400" dirty="0"/>
          </a:p>
        </p:txBody>
      </p:sp>
      <p:pic>
        <p:nvPicPr>
          <p:cNvPr id="13" name="Image 4" descr="preencoded.png">
            <a:extLst>
              <a:ext uri="{FF2B5EF4-FFF2-40B4-BE49-F238E27FC236}">
                <a16:creationId xmlns:a16="http://schemas.microsoft.com/office/drawing/2014/main" id="{9D379058-5590-A34A-3966-D9BD374410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7804" y="5324376"/>
            <a:ext cx="3485868" cy="906462"/>
          </a:xfrm>
          <a:prstGeom prst="rect">
            <a:avLst/>
          </a:prstGeom>
        </p:spPr>
      </p:pic>
      <p:pic>
        <p:nvPicPr>
          <p:cNvPr id="14" name="Image 5" descr="preencoded.png">
            <a:extLst>
              <a:ext uri="{FF2B5EF4-FFF2-40B4-BE49-F238E27FC236}">
                <a16:creationId xmlns:a16="http://schemas.microsoft.com/office/drawing/2014/main" id="{A6A6A96A-A53C-B247-2FC4-D5303FD3D6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31601" y="5641232"/>
            <a:ext cx="218156" cy="272630"/>
          </a:xfrm>
          <a:prstGeom prst="rect">
            <a:avLst/>
          </a:prstGeom>
        </p:spPr>
      </p:pic>
      <p:sp>
        <p:nvSpPr>
          <p:cNvPr id="16" name="Text 8">
            <a:extLst>
              <a:ext uri="{FF2B5EF4-FFF2-40B4-BE49-F238E27FC236}">
                <a16:creationId xmlns:a16="http://schemas.microsoft.com/office/drawing/2014/main" id="{C786ED22-5B53-8514-8884-0D808D85D533}"/>
              </a:ext>
            </a:extLst>
          </p:cNvPr>
          <p:cNvSpPr/>
          <p:nvPr/>
        </p:nvSpPr>
        <p:spPr>
          <a:xfrm>
            <a:off x="5263155" y="5578602"/>
            <a:ext cx="847294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Автоматизация заполнения документации</a:t>
            </a:r>
            <a:endParaRPr lang="en-US" sz="2400" dirty="0"/>
          </a:p>
        </p:txBody>
      </p:sp>
      <p:pic>
        <p:nvPicPr>
          <p:cNvPr id="18" name="Image 6" descr="preencoded.png">
            <a:extLst>
              <a:ext uri="{FF2B5EF4-FFF2-40B4-BE49-F238E27FC236}">
                <a16:creationId xmlns:a16="http://schemas.microsoft.com/office/drawing/2014/main" id="{37F8B348-1D0B-CC91-F24F-DCDC88B17DB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6826" y="6251377"/>
            <a:ext cx="4647824" cy="906462"/>
          </a:xfrm>
          <a:prstGeom prst="rect">
            <a:avLst/>
          </a:prstGeom>
        </p:spPr>
      </p:pic>
      <p:pic>
        <p:nvPicPr>
          <p:cNvPr id="19" name="Image 7" descr="preencoded.png">
            <a:extLst>
              <a:ext uri="{FF2B5EF4-FFF2-40B4-BE49-F238E27FC236}">
                <a16:creationId xmlns:a16="http://schemas.microsoft.com/office/drawing/2014/main" id="{B763EC26-8FF0-3877-FD9F-E61F6EBE917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31601" y="6568233"/>
            <a:ext cx="218156" cy="272630"/>
          </a:xfrm>
          <a:prstGeom prst="rect">
            <a:avLst/>
          </a:prstGeom>
        </p:spPr>
      </p:pic>
      <p:sp>
        <p:nvSpPr>
          <p:cNvPr id="21" name="Text 11">
            <a:extLst>
              <a:ext uri="{FF2B5EF4-FFF2-40B4-BE49-F238E27FC236}">
                <a16:creationId xmlns:a16="http://schemas.microsoft.com/office/drawing/2014/main" id="{EAB02D77-23EF-8ECB-A585-FE8BAF9CE73C}"/>
              </a:ext>
            </a:extLst>
          </p:cNvPr>
          <p:cNvSpPr/>
          <p:nvPr/>
        </p:nvSpPr>
        <p:spPr>
          <a:xfrm>
            <a:off x="5836298" y="6494153"/>
            <a:ext cx="859313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Создание удобного средства учета успеваемости</a:t>
            </a:r>
            <a:endParaRPr lang="en-US" sz="240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9D2DA552-59C7-E8DA-7E63-CC4B992E991C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4CBB72C5-31A4-E213-7C55-5DFB20030318}"/>
              </a:ext>
            </a:extLst>
          </p:cNvPr>
          <p:cNvSpPr/>
          <p:nvPr/>
        </p:nvSpPr>
        <p:spPr>
          <a:xfrm>
            <a:off x="791051" y="1472225"/>
            <a:ext cx="11608615" cy="780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Цель: 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разработка и реализация программного средства автоматизации 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процессов учета и анализа успеваемости студентов.</a:t>
            </a:r>
            <a:endParaRPr lang="en-US" sz="2400" dirty="0"/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CFAF1FA7-FA25-5012-2748-7A540794E56E}"/>
              </a:ext>
            </a:extLst>
          </p:cNvPr>
          <p:cNvSpPr/>
          <p:nvPr/>
        </p:nvSpPr>
        <p:spPr>
          <a:xfrm>
            <a:off x="791051" y="2781552"/>
            <a:ext cx="691311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ru-RU" sz="2400" b="1" dirty="0">
                <a:solidFill>
                  <a:srgbClr val="384653"/>
                </a:solidFill>
                <a:latin typeface="Montserrat" pitchFamily="34" charset="0"/>
              </a:rPr>
              <a:t>Задачи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 разработки включают следующее: </a:t>
            </a:r>
            <a:endParaRPr lang="en-US" sz="2400" dirty="0">
              <a:solidFill>
                <a:srgbClr val="384653"/>
              </a:solidFill>
              <a:latin typeface="Montserrat" pitchFamily="34" charset="0"/>
            </a:endParaRP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A05CD534-53E3-CFFA-7503-784E5AA1F517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08523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8" y="907852"/>
            <a:ext cx="7230131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Инструменты разработки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2303621" y="327219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JavaScript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58309" y="3758327"/>
            <a:ext cx="439602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Основной язык разработки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9256" y="2851904"/>
            <a:ext cx="3671768" cy="36717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94831" y="3167479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779" y="3285946"/>
            <a:ext cx="243721" cy="30468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475946" y="327219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Node.js + Express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9475946" y="3758327"/>
            <a:ext cx="439614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Серверная часть приложения</a:t>
            </a:r>
            <a:endParaRPr lang="en-US" sz="2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9256" y="2851904"/>
            <a:ext cx="3671768" cy="367176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8293715" y="3167479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2662" y="3285946"/>
            <a:ext cx="243721" cy="30468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475946" y="527054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React + Next.js</a:t>
            </a:r>
            <a:endParaRPr lang="en-US" sz="3200" dirty="0"/>
          </a:p>
        </p:txBody>
      </p:sp>
      <p:sp>
        <p:nvSpPr>
          <p:cNvPr id="14" name="Text 8"/>
          <p:cNvSpPr/>
          <p:nvPr/>
        </p:nvSpPr>
        <p:spPr>
          <a:xfrm>
            <a:off x="9475946" y="5756672"/>
            <a:ext cx="439614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Клиентская часть с App Router</a:t>
            </a:r>
            <a:endParaRPr lang="en-US" sz="2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9256" y="2851904"/>
            <a:ext cx="3671768" cy="3671768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8293715" y="5666363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2662" y="5784830"/>
            <a:ext cx="243721" cy="304681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2182178" y="5270540"/>
            <a:ext cx="297215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PostgreSQL + Sequelize</a:t>
            </a:r>
            <a:endParaRPr lang="en-US" sz="3200" dirty="0"/>
          </a:p>
        </p:txBody>
      </p:sp>
      <p:sp>
        <p:nvSpPr>
          <p:cNvPr id="19" name="Text 11"/>
          <p:cNvSpPr/>
          <p:nvPr/>
        </p:nvSpPr>
        <p:spPr>
          <a:xfrm>
            <a:off x="758309" y="5756672"/>
            <a:ext cx="439602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Управление данными</a:t>
            </a:r>
            <a:endParaRPr lang="en-US" sz="24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79256" y="2851904"/>
            <a:ext cx="3671768" cy="3671768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5794831" y="5666363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779" y="5784830"/>
            <a:ext cx="243721" cy="304681"/>
          </a:xfrm>
          <a:prstGeom prst="rect">
            <a:avLst/>
          </a:prstGeom>
        </p:spPr>
      </p:pic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C6EA6DE3-0D72-A502-E805-01EA841106F1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FD59BC5A-39DC-1461-6DCF-B830B4D6988F}"/>
              </a:ext>
            </a:extLst>
          </p:cNvPr>
          <p:cNvSpPr/>
          <p:nvPr/>
        </p:nvSpPr>
        <p:spPr>
          <a:xfrm>
            <a:off x="791051" y="1733040"/>
            <a:ext cx="11608615" cy="780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Для реализации проекта были использованы следующие технологии:</a:t>
            </a:r>
            <a:endParaRPr lang="en-US" sz="2400" dirty="0"/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FE95CC7B-5DC7-FD1A-6EAF-EF483FB94615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4</a:t>
            </a:r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4DB8BB35-DDAB-267F-AC28-010112B9950A}"/>
              </a:ext>
            </a:extLst>
          </p:cNvPr>
          <p:cNvSpPr/>
          <p:nvPr/>
        </p:nvSpPr>
        <p:spPr>
          <a:xfrm>
            <a:off x="6923314" y="2903973"/>
            <a:ext cx="7084088" cy="3920733"/>
          </a:xfrm>
          <a:prstGeom prst="roundRect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24DD88D2-B8F3-425E-4C50-F6BD16663083}"/>
              </a:ext>
            </a:extLst>
          </p:cNvPr>
          <p:cNvSpPr/>
          <p:nvPr/>
        </p:nvSpPr>
        <p:spPr>
          <a:xfrm>
            <a:off x="809127" y="2903973"/>
            <a:ext cx="5739379" cy="3920733"/>
          </a:xfrm>
          <a:prstGeom prst="roundRect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 0"/>
          <p:cNvSpPr/>
          <p:nvPr/>
        </p:nvSpPr>
        <p:spPr>
          <a:xfrm>
            <a:off x="691367" y="1267178"/>
            <a:ext cx="12321597" cy="803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Архитектура приложения</a:t>
            </a:r>
            <a:endParaRPr lang="en-US" sz="445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72B1B8B-5991-DEEC-E2DA-A57074AC677C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FCC734D9-A713-7CE3-5D25-1DBFB3F9C713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5</a:t>
            </a:r>
            <a:endParaRPr lang="ru-RU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EC1BE7C3-F0AC-7ECE-78B8-9ABE9D0769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008" y="3346571"/>
            <a:ext cx="5487038" cy="1062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C5BE80C9-2A5F-1564-FAEF-2AEA97F7C0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6423" y="3346571"/>
            <a:ext cx="6714850" cy="347813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Text 2">
            <a:extLst>
              <a:ext uri="{FF2B5EF4-FFF2-40B4-BE49-F238E27FC236}">
                <a16:creationId xmlns:a16="http://schemas.microsoft.com/office/drawing/2014/main" id="{8C891099-83F4-E067-36F6-3D097DFE04A2}"/>
              </a:ext>
            </a:extLst>
          </p:cNvPr>
          <p:cNvSpPr/>
          <p:nvPr/>
        </p:nvSpPr>
        <p:spPr>
          <a:xfrm>
            <a:off x="906008" y="2233143"/>
            <a:ext cx="548703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Клиент-серверная архитектура</a:t>
            </a:r>
            <a:endParaRPr lang="en-US" sz="2400" dirty="0"/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74FBD229-C2BC-3CDE-FAD0-BF661F4D0F92}"/>
              </a:ext>
            </a:extLst>
          </p:cNvPr>
          <p:cNvSpPr/>
          <p:nvPr/>
        </p:nvSpPr>
        <p:spPr>
          <a:xfrm>
            <a:off x="7106423" y="2233143"/>
            <a:ext cx="631817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Паттерн 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REST API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9C9B0-8F90-E65B-8CB4-332DB340D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2C84E88-463E-39AA-0B3D-48CEDA0CB8E3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10AC13C6-1271-5820-CE69-B2335FD2F50C}"/>
              </a:ext>
            </a:extLst>
          </p:cNvPr>
          <p:cNvSpPr/>
          <p:nvPr/>
        </p:nvSpPr>
        <p:spPr>
          <a:xfrm>
            <a:off x="2883878" y="999069"/>
            <a:ext cx="8219552" cy="7123851"/>
          </a:xfrm>
          <a:prstGeom prst="roundRect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522A41BC-69FD-15BD-2538-3573C610B6E2}"/>
              </a:ext>
            </a:extLst>
          </p:cNvPr>
          <p:cNvSpPr/>
          <p:nvPr/>
        </p:nvSpPr>
        <p:spPr>
          <a:xfrm>
            <a:off x="1843257" y="211471"/>
            <a:ext cx="1057650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Диаграмма вариантов использования</a:t>
            </a:r>
            <a:endParaRPr lang="en-US" sz="4450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554AB1AC-0CC2-20D8-8F62-EF646897F49A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6</a:t>
            </a:r>
            <a:endParaRPr lang="ru-RU" dirty="0"/>
          </a:p>
        </p:txBody>
      </p:sp>
      <p:pic>
        <p:nvPicPr>
          <p:cNvPr id="2" name="Рисунок 1" descr="Изображение выглядит как текст, диаграмма, документ, чек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D2DFD32-027B-A037-23EB-DF88FFCE09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6075" y="1148849"/>
            <a:ext cx="5399666" cy="67893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5837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02314C6-D30B-F7D1-3B37-163CD505C13C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0E028AE1-C906-E3BC-12F3-07FD35522182}"/>
              </a:ext>
            </a:extLst>
          </p:cNvPr>
          <p:cNvSpPr/>
          <p:nvPr/>
        </p:nvSpPr>
        <p:spPr>
          <a:xfrm>
            <a:off x="6060097" y="1482496"/>
            <a:ext cx="7686048" cy="6628449"/>
          </a:xfrm>
          <a:prstGeom prst="roundRect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23572C25-7879-64D4-359C-B2053CC5CB59}"/>
              </a:ext>
            </a:extLst>
          </p:cNvPr>
          <p:cNvSpPr/>
          <p:nvPr/>
        </p:nvSpPr>
        <p:spPr>
          <a:xfrm>
            <a:off x="793821" y="1494471"/>
            <a:ext cx="5006406" cy="6628449"/>
          </a:xfrm>
          <a:prstGeom prst="roundRect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 0"/>
          <p:cNvSpPr/>
          <p:nvPr/>
        </p:nvSpPr>
        <p:spPr>
          <a:xfrm>
            <a:off x="536972" y="286361"/>
            <a:ext cx="677822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Проектирование БД</a:t>
            </a:r>
            <a:endParaRPr lang="en-US" sz="4450" dirty="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142ADC48-BEE4-E621-1EC4-28D824113BDB}"/>
              </a:ext>
            </a:extLst>
          </p:cNvPr>
          <p:cNvSpPr/>
          <p:nvPr/>
        </p:nvSpPr>
        <p:spPr>
          <a:xfrm>
            <a:off x="1238296" y="1092310"/>
            <a:ext cx="4024980" cy="402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Концептуальная модель</a:t>
            </a:r>
            <a:endParaRPr lang="en-US" sz="2400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A7DE2DF5-4327-DEF8-FC35-62917A2759D9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7</a:t>
            </a:r>
            <a:endParaRPr lang="ru-RU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8B3DEEFF-9F10-F6CA-AAA9-46B025323605}"/>
              </a:ext>
            </a:extLst>
          </p:cNvPr>
          <p:cNvSpPr/>
          <p:nvPr/>
        </p:nvSpPr>
        <p:spPr>
          <a:xfrm>
            <a:off x="8179205" y="1092310"/>
            <a:ext cx="3263089" cy="402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Логическая модель</a:t>
            </a:r>
            <a:endParaRPr lang="en-US" sz="24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8BBC75E-E5CA-DCC0-36C2-7A77233DEA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1049" y="1574858"/>
            <a:ext cx="3859475" cy="6443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EF91D492-828C-BB83-5703-9BB18DB8EF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9925" y="1574858"/>
            <a:ext cx="5581650" cy="636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9C6EC-7BCE-D238-464A-5A18A7B34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73257BF-A845-38B1-12B0-1A67398B7B6B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154C28D-4F0E-1B11-CD7A-344120D41CA8}"/>
              </a:ext>
            </a:extLst>
          </p:cNvPr>
          <p:cNvSpPr/>
          <p:nvPr/>
        </p:nvSpPr>
        <p:spPr>
          <a:xfrm>
            <a:off x="1790700" y="1196202"/>
            <a:ext cx="11125200" cy="6631908"/>
          </a:xfrm>
          <a:prstGeom prst="rect">
            <a:avLst/>
          </a:prstGeom>
          <a:solidFill>
            <a:srgbClr val="D4E9F7"/>
          </a:solidFill>
          <a:ln>
            <a:noFill/>
          </a:ln>
          <a:scene3d>
            <a:camera prst="orthographicFront"/>
            <a:lightRig rig="threePt" dir="t">
              <a:rot lat="0" lon="0" rev="0"/>
            </a:lightRig>
          </a:scene3d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B9A1C6B3-03A2-FBD5-EE67-5A61BF78D5AA}"/>
              </a:ext>
            </a:extLst>
          </p:cNvPr>
          <p:cNvSpPr/>
          <p:nvPr/>
        </p:nvSpPr>
        <p:spPr>
          <a:xfrm>
            <a:off x="5156721" y="401490"/>
            <a:ext cx="431695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Выбор группы</a:t>
            </a:r>
            <a:endParaRPr lang="en-US" sz="4450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F9985273-4C6A-9D73-5C52-B15F4791165D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8</a:t>
            </a:r>
            <a:endParaRPr lang="ru-RU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FFBEC583-FFA9-257B-9B58-6969C2EA6C27}"/>
              </a:ext>
            </a:extLst>
          </p:cNvPr>
          <p:cNvSpPr/>
          <p:nvPr/>
        </p:nvSpPr>
        <p:spPr>
          <a:xfrm>
            <a:off x="2974041" y="1359466"/>
            <a:ext cx="2834465" cy="402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Боковая панель</a:t>
            </a:r>
            <a:endParaRPr lang="en-US" sz="2400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B4F6B37C-D5E6-58AF-DA14-0D2CAAEAA2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368" b="89986" l="9866" r="89967">
                        <a14:foregroundMark x1="21237" y1="10014" x2="53846" y2="8368"/>
                        <a14:foregroundMark x1="53846" y1="8368" x2="36622" y2="9877"/>
                        <a14:foregroundMark x1="36622" y1="9877" x2="81104" y2="1179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91847" y="1460500"/>
            <a:ext cx="5713610" cy="6965254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11347AC0-255E-D0E2-086B-B2D69B9827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782" b="97645" l="1231" r="89231">
                        <a14:foregroundMark x1="5846" y1="7495" x2="23077" y2="14133"/>
                        <a14:foregroundMark x1="23077" y1="14133" x2="3077" y2="35974"/>
                        <a14:foregroundMark x1="3077" y1="35974" x2="6462" y2="87366"/>
                        <a14:foregroundMark x1="6462" y1="87366" x2="21231" y2="98501"/>
                        <a14:foregroundMark x1="21231" y1="98501" x2="65538" y2="92934"/>
                        <a14:foregroundMark x1="65538" y1="92934" x2="59692" y2="47537"/>
                        <a14:foregroundMark x1="59692" y1="47537" x2="63692" y2="21627"/>
                        <a14:foregroundMark x1="63692" y1="21627" x2="59077" y2="10493"/>
                        <a14:foregroundMark x1="59077" y1="10493" x2="1231" y2="7923"/>
                        <a14:foregroundMark x1="5846" y1="6852" x2="24000" y2="5567"/>
                        <a14:foregroundMark x1="24000" y1="5567" x2="62462" y2="5782"/>
                        <a14:foregroundMark x1="62462" y1="5782" x2="64308" y2="7281"/>
                        <a14:foregroundMark x1="37231" y1="43683" x2="22462" y2="90792"/>
                        <a14:foregroundMark x1="22462" y1="90792" x2="16615" y2="44754"/>
                        <a14:foregroundMark x1="21846" y1="28908" x2="22462" y2="85225"/>
                        <a14:foregroundMark x1="22462" y1="85225" x2="15385" y2="95931"/>
                        <a14:foregroundMark x1="15385" y1="95931" x2="43077" y2="94004"/>
                        <a14:foregroundMark x1="43077" y1="94004" x2="30154" y2="96360"/>
                        <a14:foregroundMark x1="11077" y1="92505" x2="56000" y2="97645"/>
                        <a14:foregroundMark x1="64923" y1="12206" x2="69846" y2="1156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17809" y="1722220"/>
            <a:ext cx="4118078" cy="5917362"/>
          </a:xfrm>
          <a:prstGeom prst="rect">
            <a:avLst/>
          </a:prstGeom>
        </p:spPr>
      </p:pic>
      <p:sp>
        <p:nvSpPr>
          <p:cNvPr id="30" name="Text 2">
            <a:extLst>
              <a:ext uri="{FF2B5EF4-FFF2-40B4-BE49-F238E27FC236}">
                <a16:creationId xmlns:a16="http://schemas.microsoft.com/office/drawing/2014/main" id="{F48F75CB-1CED-D942-1C9C-36F1504D4543}"/>
              </a:ext>
            </a:extLst>
          </p:cNvPr>
          <p:cNvSpPr/>
          <p:nvPr/>
        </p:nvSpPr>
        <p:spPr>
          <a:xfrm>
            <a:off x="8304419" y="1378496"/>
            <a:ext cx="2834465" cy="402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Форма поиска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65221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EFF2D-7DF9-D274-2C19-D7396991F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CEABFB3-C4D6-2900-0728-484FB1C61FC7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3CD9738-AA36-9828-16A6-07DFA13C6ADD}"/>
              </a:ext>
            </a:extLst>
          </p:cNvPr>
          <p:cNvSpPr/>
          <p:nvPr/>
        </p:nvSpPr>
        <p:spPr>
          <a:xfrm>
            <a:off x="1755614" y="1196201"/>
            <a:ext cx="11267487" cy="6741997"/>
          </a:xfrm>
          <a:prstGeom prst="rect">
            <a:avLst/>
          </a:prstGeom>
          <a:solidFill>
            <a:srgbClr val="D4E9F7"/>
          </a:solidFill>
          <a:ln>
            <a:noFill/>
          </a:ln>
          <a:scene3d>
            <a:camera prst="orthographicFront"/>
            <a:lightRig rig="threePt" dir="t">
              <a:rot lat="0" lon="0" rev="0"/>
            </a:lightRig>
          </a:scene3d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64984FEB-3359-15B7-7D97-FD82DB7F1A57}"/>
              </a:ext>
            </a:extLst>
          </p:cNvPr>
          <p:cNvSpPr/>
          <p:nvPr/>
        </p:nvSpPr>
        <p:spPr>
          <a:xfrm>
            <a:off x="1755614" y="326252"/>
            <a:ext cx="11267487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Выставление текущих оценок за занятия</a:t>
            </a:r>
            <a:endParaRPr lang="en-US" sz="4450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07F187D3-0D41-9E51-0B04-EE7A7BF0AF0E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9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DEFDA96-E958-3067-2DD2-76EE88D0E9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558" b="96262" l="1749" r="98175">
                        <a14:foregroundMark x1="2053" y1="4777" x2="88137" y2="10177"/>
                        <a14:foregroundMark x1="88137" y1="10177" x2="94449" y2="32710"/>
                        <a14:foregroundMark x1="94449" y1="32710" x2="95133" y2="93043"/>
                        <a14:foregroundMark x1="95133" y1="93043" x2="91635" y2="97508"/>
                        <a14:foregroundMark x1="91635" y1="97508" x2="4335" y2="91589"/>
                        <a14:foregroundMark x1="4335" y1="91589" x2="2053" y2="3115"/>
                        <a14:foregroundMark x1="3802" y1="2804" x2="85399" y2="7061"/>
                        <a14:foregroundMark x1="85399" y1="7061" x2="90875" y2="6957"/>
                        <a14:foregroundMark x1="90875" y1="6957" x2="97338" y2="20353"/>
                        <a14:foregroundMark x1="97338" y1="20353" x2="92548" y2="83074"/>
                        <a14:foregroundMark x1="92548" y1="83074" x2="88365" y2="96677"/>
                        <a14:foregroundMark x1="88365" y1="96677" x2="80076" y2="97923"/>
                        <a14:foregroundMark x1="80076" y1="97923" x2="14677" y2="87331"/>
                        <a14:foregroundMark x1="14677" y1="87331" x2="3954" y2="28557"/>
                        <a14:foregroundMark x1="3954" y1="28557" x2="5399" y2="2700"/>
                        <a14:foregroundMark x1="5399" y1="2700" x2="4563" y2="1661"/>
                        <a14:foregroundMark x1="16122" y1="9761" x2="11027" y2="30945"/>
                        <a14:foregroundMark x1="11027" y1="30945" x2="50266" y2="71443"/>
                        <a14:foregroundMark x1="50266" y1="71443" x2="56502" y2="25337"/>
                        <a14:foregroundMark x1="56502" y1="25337" x2="6768" y2="26272"/>
                        <a14:foregroundMark x1="6768" y1="26272" x2="6616" y2="26272"/>
                        <a14:foregroundMark x1="37795" y1="18380" x2="37414" y2="39875"/>
                        <a14:foregroundMark x1="37414" y1="39875" x2="66312" y2="45898"/>
                        <a14:foregroundMark x1="66312" y1="45898" x2="46920" y2="60228"/>
                        <a14:foregroundMark x1="46920" y1="60228" x2="34981" y2="48494"/>
                        <a14:foregroundMark x1="34981" y1="48494" x2="41445" y2="74455"/>
                        <a14:foregroundMark x1="41445" y1="74455" x2="43878" y2="64071"/>
                        <a14:foregroundMark x1="34373" y1="69263" x2="25247" y2="70093"/>
                        <a14:foregroundMark x1="38707" y1="35826" x2="23726" y2="49013"/>
                        <a14:foregroundMark x1="23726" y1="49013" x2="25171" y2="62098"/>
                        <a14:foregroundMark x1="25171" y1="62098" x2="46920" y2="70509"/>
                        <a14:foregroundMark x1="46920" y1="70509" x2="34525" y2="78609"/>
                        <a14:foregroundMark x1="34525" y1="78609" x2="38783" y2="75493"/>
                        <a14:foregroundMark x1="43118" y1="89927" x2="23650" y2="83904"/>
                        <a14:foregroundMark x1="23650" y1="83904" x2="23574" y2="62201"/>
                        <a14:foregroundMark x1="23574" y1="62201" x2="15513" y2="52544"/>
                        <a14:foregroundMark x1="15513" y1="52544" x2="12015" y2="38941"/>
                        <a14:foregroundMark x1="12015" y1="38941" x2="7376" y2="33022"/>
                        <a14:foregroundMark x1="7376" y1="33022" x2="6844" y2="34060"/>
                        <a14:foregroundMark x1="16350" y1="63863" x2="9049" y2="50883"/>
                        <a14:foregroundMark x1="9049" y1="50883" x2="11635" y2="66771"/>
                        <a14:foregroundMark x1="11635" y1="66771" x2="15970" y2="64694"/>
                        <a14:foregroundMark x1="15970" y1="64694" x2="17719" y2="74663"/>
                        <a14:foregroundMark x1="17719" y1="74663" x2="14601" y2="84943"/>
                        <a14:foregroundMark x1="14601" y1="84943" x2="17262" y2="83593"/>
                        <a14:foregroundMark x1="49202" y1="73416" x2="45247" y2="84528"/>
                        <a14:foregroundMark x1="45247" y1="84528" x2="72548" y2="80478"/>
                        <a14:foregroundMark x1="72548" y1="80478" x2="81065" y2="84528"/>
                        <a14:foregroundMark x1="81065" y1="84528" x2="87300" y2="65524"/>
                        <a14:foregroundMark x1="87300" y1="65524" x2="87757" y2="30426"/>
                        <a14:foregroundMark x1="87757" y1="30426" x2="85323" y2="23053"/>
                        <a14:foregroundMark x1="85323" y1="23053" x2="70342" y2="44341"/>
                        <a14:foregroundMark x1="70342" y1="44341" x2="59772" y2="88993"/>
                        <a14:foregroundMark x1="59772" y1="88993" x2="57338" y2="86397"/>
                        <a14:foregroundMark x1="62129" y1="68951" x2="71179" y2="59190"/>
                        <a14:foregroundMark x1="71179" y1="59190" x2="74525" y2="63863"/>
                        <a14:foregroundMark x1="74525" y1="63863" x2="70038" y2="67913"/>
                        <a14:foregroundMark x1="70038" y1="67913" x2="60228" y2="68744"/>
                        <a14:foregroundMark x1="60228" y1="68744" x2="68669" y2="63863"/>
                        <a14:foregroundMark x1="77490" y1="33022" x2="63270" y2="32918"/>
                        <a14:foregroundMark x1="63270" y1="32918" x2="65399" y2="21391"/>
                        <a14:foregroundMark x1="65399" y1="21391" x2="23346" y2="16719"/>
                        <a14:foregroundMark x1="23346" y1="16719" x2="16730" y2="11838"/>
                        <a14:foregroundMark x1="16730" y1="11838" x2="25171" y2="23364"/>
                        <a14:foregroundMark x1="25171" y1="23364" x2="35437" y2="18692"/>
                        <a14:foregroundMark x1="35437" y1="18692" x2="59011" y2="20042"/>
                        <a14:foregroundMark x1="59011" y1="20042" x2="27681" y2="27726"/>
                        <a14:foregroundMark x1="27681" y1="27726" x2="51027" y2="28349"/>
                        <a14:foregroundMark x1="51027" y1="28349" x2="50722" y2="45067"/>
                        <a14:foregroundMark x1="50722" y1="45067" x2="61901" y2="50363"/>
                        <a14:foregroundMark x1="61901" y1="50363" x2="68745" y2="60125"/>
                        <a14:foregroundMark x1="68745" y1="60125" x2="60228" y2="69886"/>
                        <a14:foregroundMark x1="60228" y1="69886" x2="69202" y2="82035"/>
                        <a14:foregroundMark x1="69202" y1="82035" x2="77643" y2="82035"/>
                        <a14:foregroundMark x1="77643" y1="82035" x2="83346" y2="87020"/>
                        <a14:foregroundMark x1="83346" y1="87020" x2="86236" y2="71236"/>
                        <a14:foregroundMark x1="86236" y1="71236" x2="85399" y2="53375"/>
                        <a14:foregroundMark x1="85399" y1="53375" x2="86996" y2="47040"/>
                        <a14:foregroundMark x1="86996" y1="47040" x2="85856" y2="43821"/>
                        <a14:foregroundMark x1="79696" y1="54517" x2="79240" y2="48079"/>
                        <a14:foregroundMark x1="79240" y1="48079" x2="78555" y2="50260"/>
                        <a14:foregroundMark x1="79468" y1="65940" x2="77110" y2="73209"/>
                        <a14:foregroundMark x1="77110" y1="73209" x2="89582" y2="65940"/>
                        <a14:foregroundMark x1="80760" y1="55452" x2="74829" y2="50571"/>
                        <a14:foregroundMark x1="74829" y1="50571" x2="71863" y2="19315"/>
                        <a14:foregroundMark x1="71863" y1="19315" x2="66084" y2="16096"/>
                        <a14:foregroundMark x1="82662" y1="20872" x2="79163" y2="25753"/>
                        <a14:foregroundMark x1="79163" y1="25753" x2="76350" y2="14538"/>
                        <a14:foregroundMark x1="76350" y1="14538" x2="75894" y2="22638"/>
                        <a14:foregroundMark x1="75894" y1="22638" x2="81369" y2="52129"/>
                        <a14:foregroundMark x1="81369" y1="52129" x2="84867" y2="24507"/>
                        <a14:foregroundMark x1="84867" y1="24507" x2="83954" y2="43198"/>
                        <a14:foregroundMark x1="83954" y1="43198" x2="88745" y2="46106"/>
                        <a14:foregroundMark x1="88745" y1="46106" x2="93232" y2="55140"/>
                        <a14:foregroundMark x1="93232" y1="55140" x2="89658" y2="76220"/>
                        <a14:foregroundMark x1="89658" y1="76220" x2="86540" y2="68432"/>
                        <a14:foregroundMark x1="86540" y1="68432" x2="83422" y2="76116"/>
                        <a14:foregroundMark x1="85627" y1="88162" x2="78555" y2="92731"/>
                        <a14:foregroundMark x1="78555" y1="92731" x2="82586" y2="95223"/>
                        <a14:foregroundMark x1="82586" y1="95223" x2="79924" y2="96262"/>
                        <a14:foregroundMark x1="97262" y1="96469" x2="96730" y2="70924"/>
                        <a14:foregroundMark x1="96730" y1="70924" x2="98175" y2="9865"/>
                        <a14:foregroundMark x1="98175" y1="9865" x2="94753" y2="6750"/>
                        <a14:backgroundMark x1="4563" y1="1350" x2="4563" y2="1350"/>
                        <a14:backgroundMark x1="4715" y1="1661" x2="4715" y2="166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12020" y="1196200"/>
            <a:ext cx="9158774" cy="670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315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177F2-46E0-C403-8FF5-86500EF4B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BF7DA93-089B-D2E7-53E5-AF29849932C6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0CB00BF-17B0-9E26-AD23-C59CEA010472}"/>
              </a:ext>
            </a:extLst>
          </p:cNvPr>
          <p:cNvSpPr/>
          <p:nvPr/>
        </p:nvSpPr>
        <p:spPr>
          <a:xfrm>
            <a:off x="2104263" y="1196201"/>
            <a:ext cx="10421873" cy="6741997"/>
          </a:xfrm>
          <a:prstGeom prst="rect">
            <a:avLst/>
          </a:prstGeom>
          <a:solidFill>
            <a:srgbClr val="D4E9F7"/>
          </a:solidFill>
          <a:ln>
            <a:noFill/>
          </a:ln>
          <a:scene3d>
            <a:camera prst="orthographicFront"/>
            <a:lightRig rig="threePt" dir="t">
              <a:rot lat="0" lon="0" rev="0"/>
            </a:lightRig>
          </a:scene3d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7F6726CC-81F5-5E74-05EC-FCECE180B148}"/>
              </a:ext>
            </a:extLst>
          </p:cNvPr>
          <p:cNvSpPr/>
          <p:nvPr/>
        </p:nvSpPr>
        <p:spPr>
          <a:xfrm>
            <a:off x="2104264" y="483493"/>
            <a:ext cx="10421872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Выставление аттестационных оценок</a:t>
            </a:r>
            <a:endParaRPr lang="en-US" sz="4450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B17EDB7B-DDCF-B930-B946-A0297B35D467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10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C22290F-0AD2-EF93-BFE5-A2FE56B097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335" b="94247" l="3588" r="97863">
                        <a14:foregroundMark x1="2595" y1="2929" x2="10229" y2="9310"/>
                        <a14:foregroundMark x1="10229" y1="9310" x2="42443" y2="14017"/>
                        <a14:foregroundMark x1="42443" y1="14017" x2="67023" y2="27406"/>
                        <a14:foregroundMark x1="67023" y1="27406" x2="57710" y2="55230"/>
                        <a14:foregroundMark x1="57710" y1="55230" x2="34046" y2="37343"/>
                        <a14:foregroundMark x1="34046" y1="37343" x2="44885" y2="15063"/>
                        <a14:foregroundMark x1="44885" y1="15063" x2="65420" y2="18410"/>
                        <a14:foregroundMark x1="65420" y1="18410" x2="67023" y2="19874"/>
                        <a14:foregroundMark x1="55344" y1="15795" x2="39008" y2="14854"/>
                        <a14:foregroundMark x1="39008" y1="14854" x2="15115" y2="50209"/>
                        <a14:foregroundMark x1="15115" y1="50209" x2="41985" y2="79498"/>
                        <a14:foregroundMark x1="41985" y1="79498" x2="76107" y2="52824"/>
                        <a14:foregroundMark x1="76107" y1="52824" x2="49160" y2="16841"/>
                        <a14:foregroundMark x1="49160" y1="16841" x2="35038" y2="14226"/>
                        <a14:foregroundMark x1="74122" y1="30858" x2="57023" y2="45502"/>
                        <a14:foregroundMark x1="57023" y1="45502" x2="49084" y2="90063"/>
                        <a14:foregroundMark x1="49084" y1="90063" x2="78473" y2="91109"/>
                        <a14:foregroundMark x1="78473" y1="91109" x2="87023" y2="73326"/>
                        <a14:foregroundMark x1="87023" y1="73326" x2="75191" y2="55021"/>
                        <a14:foregroundMark x1="75191" y1="55021" x2="73817" y2="54289"/>
                        <a14:foregroundMark x1="88015" y1="49477" x2="84656" y2="60042"/>
                        <a14:foregroundMark x1="84656" y1="60042" x2="90229" y2="79289"/>
                        <a14:foregroundMark x1="90229" y1="79289" x2="95115" y2="59833"/>
                        <a14:foregroundMark x1="95115" y1="59833" x2="89389" y2="15900"/>
                        <a14:foregroundMark x1="89389" y1="15900" x2="83969" y2="33682"/>
                        <a14:foregroundMark x1="83969" y1="33682" x2="84122" y2="51569"/>
                        <a14:foregroundMark x1="84122" y1="51569" x2="83893" y2="51987"/>
                        <a14:foregroundMark x1="85802" y1="14331" x2="76412" y2="16527"/>
                        <a14:foregroundMark x1="76412" y1="16527" x2="74427" y2="40167"/>
                        <a14:foregroundMark x1="74427" y1="40167" x2="81527" y2="14435"/>
                        <a14:foregroundMark x1="81527" y1="14435" x2="70992" y2="14017"/>
                        <a14:foregroundMark x1="52977" y1="5439" x2="60611" y2="10146"/>
                        <a14:foregroundMark x1="60611" y1="10146" x2="49084" y2="5439"/>
                        <a14:foregroundMark x1="49084" y1="5439" x2="52748" y2="9833"/>
                        <a14:foregroundMark x1="17481" y1="60774" x2="14275" y2="70607"/>
                        <a14:foregroundMark x1="14275" y1="70607" x2="25954" y2="80230"/>
                        <a14:foregroundMark x1="25954" y1="80230" x2="16031" y2="63598"/>
                        <a14:foregroundMark x1="16031" y1="63598" x2="11450" y2="66004"/>
                        <a14:foregroundMark x1="11450" y1="66004" x2="11603" y2="66004"/>
                        <a14:foregroundMark x1="11603" y1="76464" x2="8473" y2="84414"/>
                        <a14:foregroundMark x1="8473" y1="84414" x2="15038" y2="87552"/>
                        <a14:foregroundMark x1="15038" y1="87552" x2="7786" y2="78243"/>
                        <a14:foregroundMark x1="7786" y1="78243" x2="7252" y2="78661"/>
                        <a14:foregroundMark x1="4504" y1="63703" x2="2595" y2="79707"/>
                        <a14:foregroundMark x1="2595" y1="79707" x2="6031" y2="73013"/>
                        <a14:foregroundMark x1="6031" y1="73013" x2="5573" y2="63494"/>
                        <a14:foregroundMark x1="5573" y1="63494" x2="4656" y2="63180"/>
                        <a14:foregroundMark x1="5191" y1="86402" x2="5420" y2="92469"/>
                        <a14:foregroundMark x1="5420" y1="92469" x2="10763" y2="91004"/>
                        <a14:foregroundMark x1="10763" y1="91004" x2="6107" y2="89958"/>
                        <a14:foregroundMark x1="6107" y1="89958" x2="5725" y2="91423"/>
                        <a14:foregroundMark x1="3664" y1="92364" x2="4351" y2="94247"/>
                        <a14:foregroundMark x1="90687" y1="88389" x2="91298" y2="90272"/>
                        <a14:foregroundMark x1="93359" y1="87343" x2="92214" y2="87029"/>
                        <a14:foregroundMark x1="97863" y1="93410" x2="92901" y2="86297"/>
                        <a14:foregroundMark x1="92901" y1="86297" x2="83282" y2="88075"/>
                        <a14:foregroundMark x1="83282" y1="88075" x2="92290" y2="89331"/>
                        <a14:foregroundMark x1="92290" y1="89331" x2="94275" y2="92469"/>
                        <a14:foregroundMark x1="93893" y1="7950" x2="88092" y2="9519"/>
                        <a14:foregroundMark x1="7481" y1="8891" x2="13511" y2="8054"/>
                        <a14:foregroundMark x1="13511" y1="8054" x2="9389" y2="79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46548" y="1270061"/>
            <a:ext cx="9137302" cy="6668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953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EEA71-0C4B-3FCD-725A-1A766DA9D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FD435A8-1E34-A0D7-FB21-69AB16411A99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3C6C3B9-DACD-D83A-D91B-FF930827D02C}"/>
              </a:ext>
            </a:extLst>
          </p:cNvPr>
          <p:cNvSpPr/>
          <p:nvPr/>
        </p:nvSpPr>
        <p:spPr>
          <a:xfrm>
            <a:off x="2104263" y="1196201"/>
            <a:ext cx="10421873" cy="6741997"/>
          </a:xfrm>
          <a:prstGeom prst="rect">
            <a:avLst/>
          </a:prstGeom>
          <a:solidFill>
            <a:srgbClr val="D4E9F7"/>
          </a:solidFill>
          <a:ln>
            <a:noFill/>
          </a:ln>
          <a:scene3d>
            <a:camera prst="orthographicFront"/>
            <a:lightRig rig="threePt" dir="t">
              <a:rot lat="0" lon="0" rev="0"/>
            </a:lightRig>
          </a:scene3d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56B28F91-CA4D-6D1A-FE09-8FC37DB899D0}"/>
              </a:ext>
            </a:extLst>
          </p:cNvPr>
          <p:cNvSpPr/>
          <p:nvPr/>
        </p:nvSpPr>
        <p:spPr>
          <a:xfrm>
            <a:off x="2408658" y="483493"/>
            <a:ext cx="9813081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Скачивание и рассылка ведомостей</a:t>
            </a:r>
            <a:endParaRPr lang="en-US" sz="4450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1CC956C1-226E-FDC4-C29E-BF7841D72243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11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ADD4B57-EF16-3613-4AD6-DCAC0B57EC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8257" r="92890">
                        <a14:foregroundMark x1="8486" y1="10667" x2="21560" y2="19333"/>
                        <a14:foregroundMark x1="21560" y1="19333" x2="68349" y2="25333"/>
                        <a14:foregroundMark x1="68349" y1="25333" x2="64450" y2="42667"/>
                        <a14:foregroundMark x1="64450" y1="42667" x2="49541" y2="54333"/>
                        <a14:foregroundMark x1="49541" y1="54333" x2="40596" y2="70667"/>
                        <a14:foregroundMark x1="40596" y1="70667" x2="25688" y2="78667"/>
                        <a14:foregroundMark x1="25688" y1="78667" x2="13991" y2="71333"/>
                        <a14:foregroundMark x1="13991" y1="71333" x2="11697" y2="34333"/>
                        <a14:foregroundMark x1="11697" y1="34333" x2="53211" y2="22000"/>
                        <a14:foregroundMark x1="53211" y1="22000" x2="54358" y2="63333"/>
                        <a14:foregroundMark x1="54358" y1="63333" x2="75459" y2="53333"/>
                        <a14:foregroundMark x1="75459" y1="53333" x2="83716" y2="76333"/>
                        <a14:foregroundMark x1="83716" y1="76333" x2="88303" y2="21667"/>
                        <a14:foregroundMark x1="88303" y1="21667" x2="92890" y2="40667"/>
                        <a14:foregroundMark x1="92890" y1="40667" x2="89908" y2="50333"/>
                        <a14:foregroundMark x1="85321" y1="82000" x2="87156" y2="58333"/>
                        <a14:foregroundMark x1="90596" y1="67000" x2="71330" y2="83667"/>
                        <a14:foregroundMark x1="71330" y1="83667" x2="15530" y2="88612"/>
                        <a14:foregroundMark x1="14115" y1="85551" x2="8716" y2="64333"/>
                        <a14:foregroundMark x1="8716" y1="64333" x2="11927" y2="43667"/>
                        <a14:foregroundMark x1="86239" y1="77667" x2="91284" y2="60000"/>
                        <a14:foregroundMark x1="91284" y1="60000" x2="91284" y2="56333"/>
                        <a14:foregroundMark x1="87615" y1="81000" x2="78899" y2="87667"/>
                        <a14:foregroundMark x1="90826" y1="77000" x2="88761" y2="85000"/>
                        <a14:foregroundMark x1="52294" y1="67000" x2="37385" y2="50333"/>
                        <a14:foregroundMark x1="37385" y1="50333" x2="54128" y2="56333"/>
                        <a14:foregroundMark x1="54128" y1="56333" x2="72936" y2="39333"/>
                        <a14:foregroundMark x1="72936" y1="39333" x2="72706" y2="22000"/>
                        <a14:foregroundMark x1="72706" y1="22000" x2="38991" y2="20667"/>
                        <a14:foregroundMark x1="64908" y1="23667" x2="79587" y2="25333"/>
                        <a14:foregroundMark x1="79587" y1="25333" x2="71101" y2="50667"/>
                        <a14:foregroundMark x1="71101" y1="50667" x2="70872" y2="55667"/>
                        <a14:foregroundMark x1="82110" y1="28667" x2="77982" y2="59667"/>
                        <a14:foregroundMark x1="57569" y1="68333" x2="78670" y2="61000"/>
                        <a14:foregroundMark x1="33257" y1="52000" x2="22248" y2="61000"/>
                        <a14:foregroundMark x1="22248" y1="61000" x2="38073" y2="51333"/>
                        <a14:foregroundMark x1="38073" y1="51333" x2="25229" y2="38000"/>
                        <a14:foregroundMark x1="25229" y1="38000" x2="17202" y2="46667"/>
                        <a14:foregroundMark x1="10550" y1="20667" x2="13073" y2="67333"/>
                        <a14:foregroundMark x1="13073" y1="67333" x2="32110" y2="48333"/>
                        <a14:foregroundMark x1="32110" y1="48333" x2="23624" y2="19000"/>
                        <a14:foregroundMark x1="23624" y1="19000" x2="10780" y2="21333"/>
                        <a14:foregroundMark x1="29817" y1="37333" x2="20413" y2="49000"/>
                        <a14:foregroundMark x1="20413" y1="49000" x2="40826" y2="70333"/>
                        <a14:foregroundMark x1="40826" y1="70333" x2="35092" y2="37667"/>
                        <a14:foregroundMark x1="35092" y1="37667" x2="18578" y2="51000"/>
                        <a14:foregroundMark x1="59174" y1="40000" x2="40826" y2="52667"/>
                        <a14:foregroundMark x1="40826" y1="52667" x2="32569" y2="42000"/>
                        <a14:foregroundMark x1="25688" y1="16333" x2="87844" y2="15000"/>
                        <a14:foregroundMark x1="27982" y1="59333" x2="25917" y2="65667"/>
                        <a14:foregroundMark x1="29587" y1="66333" x2="31881" y2="59667"/>
                        <a14:foregroundMark x1="18578" y1="67333" x2="17431" y2="69000"/>
                        <a14:foregroundMark x1="24771" y1="66000" x2="25459" y2="66667"/>
                        <a14:foregroundMark x1="9174" y1="82333" x2="8257" y2="83333"/>
                        <a14:foregroundMark x1="8716" y1="79333" x2="8716" y2="77000"/>
                        <a14:foregroundMark x1="16055" y1="86333" x2="16055" y2="86333"/>
                        <a14:foregroundMark x1="15596" y1="87667" x2="15596" y2="87667"/>
                        <a14:foregroundMark x1="12844" y1="84667" x2="14060" y2="85551"/>
                        <a14:backgroundMark x1="15367" y1="89667" x2="15367" y2="89667"/>
                        <a14:backgroundMark x1="16284" y1="90333" x2="13991" y2="9033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70466" y="1665044"/>
            <a:ext cx="4944732" cy="340233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D566F3C-C7F2-73BF-9D9B-8A1DCA33A5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794" b="96813" l="3232" r="95437">
                        <a14:foregroundMark x1="8365" y1="4856" x2="64259" y2="14112"/>
                        <a14:foregroundMark x1="64259" y1="14112" x2="35551" y2="80880"/>
                        <a14:foregroundMark x1="35551" y1="80880" x2="40304" y2="92716"/>
                        <a14:foregroundMark x1="40304" y1="92716" x2="45437" y2="95144"/>
                        <a14:foregroundMark x1="68251" y1="90440" x2="64639" y2="79059"/>
                        <a14:foregroundMark x1="64639" y1="79059" x2="66350" y2="23672"/>
                        <a14:foregroundMark x1="57224" y1="42944" x2="29468" y2="53566"/>
                        <a14:foregroundMark x1="29468" y1="53566" x2="12928" y2="75873"/>
                        <a14:foregroundMark x1="12928" y1="75873" x2="9316" y2="88771"/>
                        <a14:foregroundMark x1="9316" y1="88771" x2="6274" y2="18665"/>
                        <a14:foregroundMark x1="6274" y1="18665" x2="7985" y2="9256"/>
                        <a14:foregroundMark x1="7985" y1="9256" x2="29278" y2="6525"/>
                        <a14:foregroundMark x1="29278" y1="6525" x2="45437" y2="23217"/>
                        <a14:foregroundMark x1="45437" y1="23217" x2="28137" y2="43854"/>
                        <a14:foregroundMark x1="5133" y1="10167" x2="3612" y2="28225"/>
                        <a14:foregroundMark x1="3612" y1="28225" x2="3992" y2="29439"/>
                        <a14:foregroundMark x1="5703" y1="7284" x2="16920" y2="3794"/>
                        <a14:foregroundMark x1="16920" y1="3794" x2="19582" y2="3945"/>
                        <a14:foregroundMark x1="95247" y1="5008" x2="95247" y2="17299"/>
                        <a14:foregroundMark x1="12167" y1="92716" x2="14639" y2="95296"/>
                        <a14:foregroundMark x1="17871" y1="96965" x2="24715" y2="92716"/>
                        <a14:foregroundMark x1="15589" y1="93020" x2="20722" y2="93020"/>
                        <a14:foregroundMark x1="95437" y1="39454" x2="94106" y2="353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78253" y="1908909"/>
            <a:ext cx="4481681" cy="5614883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5F11698D-737F-5B48-ECD8-1431515BB5AD}"/>
              </a:ext>
            </a:extLst>
          </p:cNvPr>
          <p:cNvSpPr/>
          <p:nvPr/>
        </p:nvSpPr>
        <p:spPr>
          <a:xfrm>
            <a:off x="2652764" y="1506747"/>
            <a:ext cx="4350937" cy="402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Форма скачивания</a:t>
            </a:r>
            <a:endParaRPr lang="en-US" sz="240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3A4538B4-83A8-D3F4-24BD-3737D56F7151}"/>
              </a:ext>
            </a:extLst>
          </p:cNvPr>
          <p:cNvSpPr/>
          <p:nvPr/>
        </p:nvSpPr>
        <p:spPr>
          <a:xfrm>
            <a:off x="7679826" y="1506747"/>
            <a:ext cx="4481681" cy="402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Форма рассылки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98328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D9181-5F19-7823-D019-42882E980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398BFB0-69F7-F163-D049-735839174BA8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E5D9078-CACF-640C-D9C6-CFB97BEC3593}"/>
              </a:ext>
            </a:extLst>
          </p:cNvPr>
          <p:cNvSpPr/>
          <p:nvPr/>
        </p:nvSpPr>
        <p:spPr>
          <a:xfrm>
            <a:off x="2758232" y="1196201"/>
            <a:ext cx="9113929" cy="6741997"/>
          </a:xfrm>
          <a:prstGeom prst="rect">
            <a:avLst/>
          </a:prstGeom>
          <a:solidFill>
            <a:srgbClr val="D4E9F7"/>
          </a:solidFill>
          <a:ln>
            <a:noFill/>
          </a:ln>
          <a:scene3d>
            <a:camera prst="orthographicFront"/>
            <a:lightRig rig="threePt" dir="t">
              <a:rot lat="0" lon="0" rev="0"/>
            </a:lightRig>
          </a:scene3d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935DF693-A6DC-6B05-3957-2C3AA10E95E6}"/>
              </a:ext>
            </a:extLst>
          </p:cNvPr>
          <p:cNvSpPr/>
          <p:nvPr/>
        </p:nvSpPr>
        <p:spPr>
          <a:xfrm>
            <a:off x="4344436" y="483493"/>
            <a:ext cx="5941522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Просмотр статистики</a:t>
            </a:r>
            <a:endParaRPr lang="en-US" sz="4450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2D45355C-76EA-4E5B-6B00-FC431A77C235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12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D66AF80-6A3B-E6C7-4B70-17ED8BA7DB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428" b="93737" l="4917" r="96899">
                        <a14:foregroundMark x1="3026" y1="3445" x2="10893" y2="7516"/>
                        <a14:foregroundMark x1="10893" y1="7516" x2="4690" y2="27766"/>
                        <a14:foregroundMark x1="4690" y1="27766" x2="8548" y2="31837"/>
                        <a14:foregroundMark x1="8548" y1="31837" x2="6354" y2="41023"/>
                        <a14:foregroundMark x1="6354" y1="41023" x2="9228" y2="50731"/>
                        <a14:foregroundMark x1="9228" y1="50731" x2="24130" y2="52505"/>
                        <a14:foregroundMark x1="24130" y1="52505" x2="64675" y2="81002"/>
                        <a14:foregroundMark x1="64675" y1="81002" x2="66793" y2="59499"/>
                        <a14:foregroundMark x1="66793" y1="59499" x2="57262" y2="71190"/>
                        <a14:foregroundMark x1="57262" y1="71190" x2="70877" y2="85595"/>
                        <a14:foregroundMark x1="70877" y1="85595" x2="92511" y2="91441"/>
                        <a14:foregroundMark x1="92511" y1="91441" x2="95764" y2="95511"/>
                        <a14:foregroundMark x1="95764" y1="95511" x2="97731" y2="81420"/>
                        <a14:foregroundMark x1="97731" y1="81420" x2="94554" y2="3132"/>
                        <a14:foregroundMark x1="94554" y1="3132" x2="40998" y2="7933"/>
                        <a14:foregroundMark x1="40998" y1="7933" x2="14750" y2="3967"/>
                        <a14:foregroundMark x1="14750" y1="3967" x2="7867" y2="5115"/>
                        <a14:foregroundMark x1="7867" y1="5115" x2="7413" y2="83299"/>
                        <a14:foregroundMark x1="7413" y1="83299" x2="2345" y2="95303"/>
                        <a14:foregroundMark x1="2345" y1="95303" x2="3707" y2="28184"/>
                        <a14:foregroundMark x1="3707" y1="28184" x2="15507" y2="17015"/>
                        <a14:foregroundMark x1="15507" y1="17015" x2="22088" y2="27453"/>
                        <a14:foregroundMark x1="22088" y1="27453" x2="45461" y2="38622"/>
                        <a14:foregroundMark x1="45461" y1="38622" x2="42436" y2="23695"/>
                        <a14:foregroundMark x1="42436" y1="23695" x2="50378" y2="13048"/>
                        <a14:foregroundMark x1="50378" y1="13048" x2="46899" y2="33820"/>
                        <a14:foregroundMark x1="46899" y1="33820" x2="49697" y2="71190"/>
                        <a14:foregroundMark x1="49697" y1="71190" x2="54312" y2="80793"/>
                        <a14:foregroundMark x1="54312" y1="80793" x2="25416" y2="87370"/>
                        <a14:foregroundMark x1="25416" y1="87370" x2="18003" y2="93841"/>
                        <a14:foregroundMark x1="18003" y1="93841" x2="11800" y2="96242"/>
                        <a14:foregroundMark x1="11800" y1="96242" x2="18079" y2="96660"/>
                        <a14:foregroundMark x1="18079" y1="96660" x2="36687" y2="93633"/>
                        <a14:foregroundMark x1="36687" y1="93633" x2="44402" y2="93737"/>
                        <a14:foregroundMark x1="81089" y1="52505" x2="62784" y2="54593"/>
                        <a14:foregroundMark x1="62784" y1="54593" x2="48109" y2="46138"/>
                        <a14:foregroundMark x1="48109" y1="46138" x2="68457" y2="25678"/>
                        <a14:foregroundMark x1="68457" y1="25678" x2="73449" y2="24322"/>
                        <a14:foregroundMark x1="73828" y1="61378" x2="80106" y2="55115"/>
                        <a14:foregroundMark x1="80106" y1="55115" x2="84569" y2="28079"/>
                        <a14:foregroundMark x1="84569" y1="28079" x2="81770" y2="18580"/>
                        <a14:foregroundMark x1="92587" y1="40292" x2="92965" y2="52923"/>
                        <a14:foregroundMark x1="92965" y1="52923" x2="76929" y2="76096"/>
                        <a14:foregroundMark x1="76929" y1="76096" x2="62330" y2="42380"/>
                        <a14:foregroundMark x1="62330" y1="42380" x2="83207" y2="28914"/>
                        <a14:foregroundMark x1="83207" y1="28914" x2="84342" y2="67641"/>
                        <a14:foregroundMark x1="38351" y1="31628" x2="28215" y2="24739"/>
                        <a14:foregroundMark x1="28215" y1="24739" x2="11044" y2="48225"/>
                        <a14:foregroundMark x1="11044" y1="48225" x2="38654" y2="70146"/>
                        <a14:foregroundMark x1="38654" y1="70146" x2="55673" y2="50418"/>
                        <a14:foregroundMark x1="55673" y1="50418" x2="55219" y2="45094"/>
                        <a14:foregroundMark x1="35250" y1="39562" x2="20651" y2="52714"/>
                        <a14:foregroundMark x1="20651" y1="52714" x2="33207" y2="80376"/>
                        <a14:foregroundMark x1="33207" y1="80376" x2="39486" y2="42902"/>
                        <a14:foregroundMark x1="39486" y1="42902" x2="8245" y2="59812"/>
                        <a14:foregroundMark x1="8245" y1="59812" x2="9834" y2="68789"/>
                        <a14:foregroundMark x1="30560" y1="54071" x2="18381" y2="65031"/>
                        <a14:foregroundMark x1="18381" y1="65031" x2="26248" y2="86430"/>
                        <a14:foregroundMark x1="26248" y1="86430" x2="15734" y2="62109"/>
                        <a14:foregroundMark x1="15734" y1="62109" x2="5068" y2="81420"/>
                        <a14:foregroundMark x1="5068" y1="81420" x2="7640" y2="83612"/>
                        <a14:foregroundMark x1="8775" y1="8768" x2="63389" y2="4071"/>
                        <a14:foregroundMark x1="63389" y1="4071" x2="84796" y2="5532"/>
                        <a14:foregroundMark x1="84796" y1="5532" x2="85023" y2="5637"/>
                        <a14:foregroundMark x1="85779" y1="11795" x2="18457" y2="14405"/>
                        <a14:foregroundMark x1="18457" y1="14405" x2="79123" y2="10647"/>
                        <a14:foregroundMark x1="79123" y1="10647" x2="75038" y2="11587"/>
                        <a14:foregroundMark x1="95537" y1="5846" x2="96899" y2="46347"/>
                        <a14:foregroundMark x1="93646" y1="75052" x2="92057" y2="17537"/>
                        <a14:foregroundMark x1="85779" y1="78706" x2="84115" y2="86117"/>
                        <a14:foregroundMark x1="84115" y1="86117" x2="86157" y2="73382"/>
                        <a14:foregroundMark x1="86157" y1="73382" x2="74433" y2="75783"/>
                        <a14:foregroundMark x1="74433" y1="75783" x2="62935" y2="90084"/>
                        <a14:foregroundMark x1="62935" y1="90084" x2="34947" y2="88309"/>
                        <a14:foregroundMark x1="34947" y1="88309" x2="34796" y2="87474"/>
                        <a14:foregroundMark x1="12405" y1="31837" x2="20802" y2="33299"/>
                        <a14:foregroundMark x1="20802" y1="33299" x2="54539" y2="30063"/>
                        <a14:foregroundMark x1="54539" y1="30063" x2="47428" y2="32881"/>
                        <a14:foregroundMark x1="65582" y1="21503" x2="47352" y2="26200"/>
                        <a14:foregroundMark x1="47352" y1="26200" x2="57564" y2="29436"/>
                        <a14:foregroundMark x1="57564" y1="29436" x2="60363" y2="17745"/>
                        <a14:foregroundMark x1="60363" y1="17745" x2="35325" y2="19729"/>
                        <a14:foregroundMark x1="13011" y1="23904" x2="17322" y2="22025"/>
                        <a14:foregroundMark x1="17322" y1="22025" x2="12405" y2="24948"/>
                        <a14:backgroundMark x1="1135" y1="6472" x2="1059" y2="939"/>
                        <a14:backgroundMark x1="908" y1="9395" x2="378" y2="360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58233" y="1264951"/>
            <a:ext cx="9113929" cy="6604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371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1CD07-0382-E10C-41CB-A978AF7E1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06939A6-E0AB-6ADA-B783-EDB1883E599B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9DB64AE-DFD1-39F3-5CA8-AD3FB6961AEA}"/>
              </a:ext>
            </a:extLst>
          </p:cNvPr>
          <p:cNvSpPr/>
          <p:nvPr/>
        </p:nvSpPr>
        <p:spPr>
          <a:xfrm>
            <a:off x="2758232" y="1196201"/>
            <a:ext cx="9113929" cy="6741997"/>
          </a:xfrm>
          <a:prstGeom prst="rect">
            <a:avLst/>
          </a:prstGeom>
          <a:solidFill>
            <a:srgbClr val="D4E9F7"/>
          </a:solidFill>
          <a:ln>
            <a:noFill/>
          </a:ln>
          <a:scene3d>
            <a:camera prst="orthographicFront"/>
            <a:lightRig rig="threePt" dir="t">
              <a:rot lat="0" lon="0" rev="0"/>
            </a:lightRig>
          </a:scene3d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DD1E6D82-38AE-BA3B-E4DB-9D2E8C1E576A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13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AF6373C-C231-5657-9EC6-3EA90B0107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337" b="97185" l="2818" r="96649">
                        <a14:foregroundMark x1="4570" y1="5527" x2="4798" y2="83629"/>
                        <a14:foregroundMark x1="4798" y1="83629" x2="10586" y2="91032"/>
                        <a14:foregroundMark x1="10586" y1="91032" x2="75476" y2="88425"/>
                        <a14:foregroundMark x1="75476" y1="88425" x2="84158" y2="80605"/>
                        <a14:foregroundMark x1="84158" y1="80605" x2="59711" y2="72158"/>
                        <a14:foregroundMark x1="59711" y1="72158" x2="26200" y2="79875"/>
                        <a14:foregroundMark x1="26200" y1="79875" x2="24981" y2="81126"/>
                        <a14:foregroundMark x1="7083" y1="83629" x2="3732" y2="69239"/>
                        <a14:foregroundMark x1="3732" y1="69239" x2="4646" y2="5214"/>
                        <a14:foregroundMark x1="4646" y1="5214" x2="10282" y2="4484"/>
                        <a14:foregroundMark x1="10282" y1="4484" x2="11881" y2="4692"/>
                        <a14:foregroundMark x1="9444" y1="6465" x2="3503" y2="23670"/>
                        <a14:foregroundMark x1="3503" y1="23670" x2="3046" y2="22732"/>
                        <a14:foregroundMark x1="2361" y1="4901" x2="16299" y2="5735"/>
                        <a14:foregroundMark x1="16299" y1="5735" x2="28104" y2="3337"/>
                        <a14:foregroundMark x1="59406" y1="5839" x2="66413" y2="5944"/>
                        <a14:foregroundMark x1="66413" y1="5944" x2="41889" y2="4588"/>
                        <a14:foregroundMark x1="41889" y1="4588" x2="42346" y2="4588"/>
                        <a14:foregroundMark x1="67174" y1="4692" x2="74562" y2="3962"/>
                        <a14:foregroundMark x1="74562" y1="3962" x2="91546" y2="4901"/>
                        <a14:foregroundMark x1="91546" y1="4901" x2="95430" y2="12096"/>
                        <a14:foregroundMark x1="95430" y1="12096" x2="96725" y2="26903"/>
                        <a14:foregroundMark x1="96725" y1="26903" x2="92155" y2="53493"/>
                        <a14:foregroundMark x1="89871" y1="79041" x2="79132" y2="93222"/>
                        <a14:foregroundMark x1="79132" y1="93222" x2="64128" y2="97185"/>
                        <a14:foregroundMark x1="64128" y1="97185" x2="44478" y2="9405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58232" y="1238845"/>
            <a:ext cx="9113928" cy="6656708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66E0558D-DDFF-DA21-867F-5591E51A2664}"/>
              </a:ext>
            </a:extLst>
          </p:cNvPr>
          <p:cNvSpPr/>
          <p:nvPr/>
        </p:nvSpPr>
        <p:spPr>
          <a:xfrm>
            <a:off x="3784974" y="504815"/>
            <a:ext cx="7060443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Управление ведомостями</a:t>
            </a:r>
            <a:endParaRPr lang="en-US" sz="4450" dirty="0"/>
          </a:p>
        </p:txBody>
      </p:sp>
    </p:spTree>
    <p:extLst>
      <p:ext uri="{BB962C8B-B14F-4D97-AF65-F5344CB8AC3E}">
        <p14:creationId xmlns:p14="http://schemas.microsoft.com/office/powerpoint/2010/main" val="3775931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65B71-AF9F-E6D5-CE9C-C1BCCD513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EE1435D-9D37-B047-C01E-49162C1FA781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DB7AF78-7BA2-1A75-DAC9-C409B6B1C348}"/>
              </a:ext>
            </a:extLst>
          </p:cNvPr>
          <p:cNvSpPr/>
          <p:nvPr/>
        </p:nvSpPr>
        <p:spPr>
          <a:xfrm>
            <a:off x="2235200" y="1196201"/>
            <a:ext cx="10109200" cy="6741997"/>
          </a:xfrm>
          <a:prstGeom prst="rect">
            <a:avLst/>
          </a:prstGeom>
          <a:solidFill>
            <a:srgbClr val="D4E9F7"/>
          </a:solidFill>
          <a:ln>
            <a:noFill/>
          </a:ln>
          <a:scene3d>
            <a:camera prst="orthographicFront"/>
            <a:lightRig rig="threePt" dir="t">
              <a:rot lat="0" lon="0" rev="0"/>
            </a:lightRig>
          </a:scene3d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A7A35004-8D0F-88B1-1897-41B147899805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14</a:t>
            </a:r>
            <a:endParaRPr lang="ru-RU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64E965A6-0C7F-FC33-7F37-A067FB37F1B4}"/>
              </a:ext>
            </a:extLst>
          </p:cNvPr>
          <p:cNvSpPr/>
          <p:nvPr/>
        </p:nvSpPr>
        <p:spPr>
          <a:xfrm>
            <a:off x="2737037" y="480308"/>
            <a:ext cx="910552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endParaRPr lang="en-US" sz="4450" dirty="0"/>
          </a:p>
        </p:txBody>
      </p:sp>
      <p:pic>
        <p:nvPicPr>
          <p:cNvPr id="4" name="Рисунок 3" descr="Изображение выглядит как текст, число, чек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AA1BE8F-2182-E930-1802-BC80BB4EA1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428" y="1419477"/>
            <a:ext cx="4438706" cy="6276985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диаграмма, снимок экран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01BBEB9-7C11-2B35-38C1-A5F48040E4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9266" y="1447799"/>
            <a:ext cx="4438706" cy="6276985"/>
          </a:xfrm>
          <a:prstGeom prst="rect">
            <a:avLst/>
          </a:prstGeom>
        </p:spPr>
      </p:pic>
      <p:sp>
        <p:nvSpPr>
          <p:cNvPr id="10" name="Text 0">
            <a:extLst>
              <a:ext uri="{FF2B5EF4-FFF2-40B4-BE49-F238E27FC236}">
                <a16:creationId xmlns:a16="http://schemas.microsoft.com/office/drawing/2014/main" id="{A9694283-E8DA-42AC-4D26-69D8846C7369}"/>
              </a:ext>
            </a:extLst>
          </p:cNvPr>
          <p:cNvSpPr/>
          <p:nvPr/>
        </p:nvSpPr>
        <p:spPr>
          <a:xfrm>
            <a:off x="2336800" y="480308"/>
            <a:ext cx="10058400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Созданная в приложении ведомость</a:t>
            </a:r>
          </a:p>
        </p:txBody>
      </p:sp>
    </p:spTree>
    <p:extLst>
      <p:ext uri="{BB962C8B-B14F-4D97-AF65-F5344CB8AC3E}">
        <p14:creationId xmlns:p14="http://schemas.microsoft.com/office/powerpoint/2010/main" val="10720848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12F2B-796C-D289-7C97-2B64B359A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0BB955F-4315-042C-CA7F-6614836CC725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AA36BAA-6204-19FD-3D42-FCC11CF7F087}"/>
              </a:ext>
            </a:extLst>
          </p:cNvPr>
          <p:cNvSpPr/>
          <p:nvPr/>
        </p:nvSpPr>
        <p:spPr>
          <a:xfrm>
            <a:off x="2806700" y="1196201"/>
            <a:ext cx="8991600" cy="6741997"/>
          </a:xfrm>
          <a:prstGeom prst="rect">
            <a:avLst/>
          </a:prstGeom>
          <a:solidFill>
            <a:srgbClr val="D4E9F7"/>
          </a:solidFill>
          <a:ln>
            <a:noFill/>
          </a:ln>
          <a:scene3d>
            <a:camera prst="orthographicFront"/>
            <a:lightRig rig="threePt" dir="t">
              <a:rot lat="0" lon="0" rev="0"/>
            </a:lightRig>
          </a:scene3d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C3F9F24C-6565-F734-6C73-F2072D7B3F92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15</a:t>
            </a:r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A59F512-79E6-FF12-BEEB-35F533E23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9072" y="1446046"/>
            <a:ext cx="8261456" cy="6242306"/>
          </a:xfrm>
          <a:prstGeom prst="rect">
            <a:avLst/>
          </a:prstGeom>
        </p:spPr>
      </p:pic>
      <p:sp>
        <p:nvSpPr>
          <p:cNvPr id="14" name="Text 0">
            <a:extLst>
              <a:ext uri="{FF2B5EF4-FFF2-40B4-BE49-F238E27FC236}">
                <a16:creationId xmlns:a16="http://schemas.microsoft.com/office/drawing/2014/main" id="{F8396F62-EF71-C476-F99D-3FF8C153E407}"/>
              </a:ext>
            </a:extLst>
          </p:cNvPr>
          <p:cNvSpPr/>
          <p:nvPr/>
        </p:nvSpPr>
        <p:spPr>
          <a:xfrm>
            <a:off x="4381500" y="498593"/>
            <a:ext cx="5867400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Письмо с ведомостью</a:t>
            </a:r>
          </a:p>
        </p:txBody>
      </p:sp>
    </p:spTree>
    <p:extLst>
      <p:ext uri="{BB962C8B-B14F-4D97-AF65-F5344CB8AC3E}">
        <p14:creationId xmlns:p14="http://schemas.microsoft.com/office/powerpoint/2010/main" val="11601106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FD078-C1C8-4A37-8647-616DD1E4A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29829D83-51A7-D003-AD52-0D2CC330BC31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829584CE-F0F1-3AB1-0B75-C82C96065C19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16</a:t>
            </a:r>
            <a:endParaRPr lang="ru-RU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35945592-25C2-5E8C-3C32-5599A64DC0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1328173"/>
              </p:ext>
            </p:extLst>
          </p:nvPr>
        </p:nvGraphicFramePr>
        <p:xfrm>
          <a:off x="1085850" y="1115175"/>
          <a:ext cx="12363450" cy="6732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213850">
                  <a:extLst>
                    <a:ext uri="{9D8B030D-6E8A-4147-A177-3AD203B41FA5}">
                      <a16:colId xmlns:a16="http://schemas.microsoft.com/office/drawing/2014/main" val="3361407217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1672160672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497920844"/>
                    </a:ext>
                  </a:extLst>
                </a:gridCol>
              </a:tblGrid>
              <a:tr h="396000">
                <a:tc row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ru-RU" sz="1800" dirty="0">
                          <a:effectLst/>
                        </a:rPr>
                        <a:t>Наименование показателя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3" marR="68543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ru-RU" sz="1800" dirty="0">
                          <a:effectLst/>
                        </a:rPr>
                        <a:t>Варианты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3" marR="68543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260833"/>
                  </a:ext>
                </a:extLst>
              </a:tr>
              <a:tr h="3960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ru-RU" sz="1800">
                          <a:effectLst/>
                        </a:rPr>
                        <a:t>Базовый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3" marR="6854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ru-RU" sz="1800">
                          <a:effectLst/>
                        </a:rPr>
                        <a:t>Проектный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3" marR="68543" marT="0" marB="0" anchor="ctr"/>
                </a:tc>
                <a:extLst>
                  <a:ext uri="{0D108BD9-81ED-4DB2-BD59-A6C34878D82A}">
                    <a16:rowId xmlns:a16="http://schemas.microsoft.com/office/drawing/2014/main" val="302609319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  <a:buNone/>
                      </a:pPr>
                      <a:r>
                        <a:rPr lang="ru-RU" sz="1800" dirty="0">
                          <a:effectLst/>
                        </a:rPr>
                        <a:t>1. Трудоемкость решения задачи, час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3" marR="6854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ru-RU" sz="1800">
                          <a:effectLst/>
                        </a:rPr>
                        <a:t>1,00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3" marR="6854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ru-RU" sz="1800">
                          <a:effectLst/>
                        </a:rPr>
                        <a:t>0,13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3" marR="68543" marT="0" marB="0" anchor="ctr"/>
                </a:tc>
                <a:extLst>
                  <a:ext uri="{0D108BD9-81ED-4DB2-BD59-A6C34878D82A}">
                    <a16:rowId xmlns:a16="http://schemas.microsoft.com/office/drawing/2014/main" val="11789611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  <a:buNone/>
                      </a:pPr>
                      <a:r>
                        <a:rPr lang="ru-RU" sz="1800" dirty="0">
                          <a:effectLst/>
                        </a:rPr>
                        <a:t>2. Периодичность решения задачи, раз/год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3" marR="6854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ru-RU" sz="1800">
                          <a:effectLst/>
                        </a:rPr>
                        <a:t>800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3" marR="6854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ru-RU" sz="1800">
                          <a:effectLst/>
                        </a:rPr>
                        <a:t>800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3" marR="68543" marT="0" marB="0" anchor="ctr"/>
                </a:tc>
                <a:extLst>
                  <a:ext uri="{0D108BD9-81ED-4DB2-BD59-A6C34878D82A}">
                    <a16:rowId xmlns:a16="http://schemas.microsoft.com/office/drawing/2014/main" val="203631665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  <a:buNone/>
                      </a:pPr>
                      <a:r>
                        <a:rPr lang="ru-RU" sz="1800" dirty="0">
                          <a:effectLst/>
                        </a:rPr>
                        <a:t>3. Годовые текущие затраты, связанные с решением задачи, </a:t>
                      </a:r>
                      <a:r>
                        <a:rPr lang="ru-RU" sz="1800" dirty="0" err="1">
                          <a:effectLst/>
                        </a:rPr>
                        <a:t>руб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3" marR="6854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ru-RU" sz="1800">
                          <a:effectLst/>
                        </a:rPr>
                        <a:t>6450,88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3" marR="6854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ru-RU" sz="1800">
                          <a:effectLst/>
                        </a:rPr>
                        <a:t>1364,23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3" marR="68543" marT="0" marB="0" anchor="ctr"/>
                </a:tc>
                <a:extLst>
                  <a:ext uri="{0D108BD9-81ED-4DB2-BD59-A6C34878D82A}">
                    <a16:rowId xmlns:a16="http://schemas.microsoft.com/office/drawing/2014/main" val="281725727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  <a:buNone/>
                      </a:pPr>
                      <a:r>
                        <a:rPr lang="ru-RU" sz="1800" dirty="0">
                          <a:effectLst/>
                        </a:rPr>
                        <a:t>4. Планируемая цена программы, </a:t>
                      </a:r>
                      <a:r>
                        <a:rPr lang="ru-RU" sz="1800" dirty="0" err="1">
                          <a:effectLst/>
                        </a:rPr>
                        <a:t>руб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3" marR="6854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ru-RU" sz="1800">
                          <a:effectLst/>
                        </a:rPr>
                        <a:t>-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3" marR="6854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ru-RU" sz="1800" dirty="0">
                          <a:effectLst/>
                        </a:rPr>
                        <a:t>7632,72 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3" marR="68543" marT="0" marB="0" anchor="ctr"/>
                </a:tc>
                <a:extLst>
                  <a:ext uri="{0D108BD9-81ED-4DB2-BD59-A6C34878D82A}">
                    <a16:rowId xmlns:a16="http://schemas.microsoft.com/office/drawing/2014/main" val="95500755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  <a:buNone/>
                      </a:pPr>
                      <a:r>
                        <a:rPr lang="ru-RU" sz="1800" dirty="0">
                          <a:effectLst/>
                        </a:rPr>
                        <a:t>5. Степень новизны программы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3" marR="6854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ru-RU" sz="1800">
                          <a:effectLst/>
                        </a:rPr>
                        <a:t>-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3" marR="6854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ru-RU" sz="1800">
                          <a:effectLst/>
                        </a:rPr>
                        <a:t>В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3" marR="68543" marT="0" marB="0" anchor="ctr"/>
                </a:tc>
                <a:extLst>
                  <a:ext uri="{0D108BD9-81ED-4DB2-BD59-A6C34878D82A}">
                    <a16:rowId xmlns:a16="http://schemas.microsoft.com/office/drawing/2014/main" val="3909895175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  <a:buNone/>
                      </a:pPr>
                      <a:r>
                        <a:rPr lang="ru-RU" sz="1800" dirty="0">
                          <a:effectLst/>
                        </a:rPr>
                        <a:t>6. Группа сложности алгоритма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3" marR="6854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ru-RU" sz="1800">
                          <a:effectLst/>
                        </a:rPr>
                        <a:t>-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3" marR="6854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ru-RU" sz="1800" dirty="0">
                          <a:effectLst/>
                        </a:rPr>
                        <a:t>2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3" marR="68543" marT="0" marB="0" anchor="ctr"/>
                </a:tc>
                <a:extLst>
                  <a:ext uri="{0D108BD9-81ED-4DB2-BD59-A6C34878D82A}">
                    <a16:rowId xmlns:a16="http://schemas.microsoft.com/office/drawing/2014/main" val="3632979835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  <a:buNone/>
                      </a:pPr>
                      <a:r>
                        <a:rPr lang="ru-RU" sz="1800" dirty="0">
                          <a:effectLst/>
                        </a:rPr>
                        <a:t>7. Экономия затрат на ЗП проектировщика за счет автоматизации труда, руб.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3" marR="68543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ru-RU" sz="1800" dirty="0">
                          <a:effectLst/>
                        </a:rPr>
                        <a:t>5585,</a:t>
                      </a:r>
                      <a:r>
                        <a:rPr lang="en-US" sz="1800" dirty="0">
                          <a:effectLst/>
                        </a:rPr>
                        <a:t>17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3" marR="68543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62201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  <a:buNone/>
                      </a:pPr>
                      <a:r>
                        <a:rPr lang="ru-RU" sz="1800" dirty="0">
                          <a:effectLst/>
                        </a:rPr>
                        <a:t>8. Экономия отчислений в социальные фонды, руб.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3" marR="68543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ru-RU" sz="1800" dirty="0">
                          <a:effectLst/>
                        </a:rPr>
                        <a:t>1932,</a:t>
                      </a:r>
                      <a:r>
                        <a:rPr lang="en-US" sz="1800" dirty="0">
                          <a:effectLst/>
                        </a:rPr>
                        <a:t>47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3" marR="68543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9247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  <a:buNone/>
                      </a:pPr>
                      <a:r>
                        <a:rPr lang="ru-RU" sz="1800" dirty="0">
                          <a:effectLst/>
                        </a:rPr>
                        <a:t>9. Дополнительная прибыль пользователя, </a:t>
                      </a:r>
                      <a:r>
                        <a:rPr lang="ru-RU" sz="1800" dirty="0" err="1">
                          <a:effectLst/>
                        </a:rPr>
                        <a:t>руб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3" marR="68543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ru-RU" sz="1800">
                          <a:effectLst/>
                        </a:rPr>
                        <a:t>4069,</a:t>
                      </a:r>
                      <a:r>
                        <a:rPr lang="en-US" sz="1800">
                          <a:effectLst/>
                        </a:rPr>
                        <a:t>06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3" marR="68543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264179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  <a:buNone/>
                      </a:pPr>
                      <a:r>
                        <a:rPr lang="ru-RU" sz="1800" dirty="0">
                          <a:effectLst/>
                        </a:rPr>
                        <a:t>10. Рентабельность авансированного капитала, %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3" marR="68543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ru-RU" sz="1800" dirty="0">
                          <a:effectLst/>
                        </a:rPr>
                        <a:t>52,20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3" marR="68543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78675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  <a:buNone/>
                      </a:pPr>
                      <a:r>
                        <a:rPr lang="ru-RU" sz="1800" dirty="0">
                          <a:effectLst/>
                        </a:rPr>
                        <a:t>11. Срок возврата инвестиций, лет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3" marR="68543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ru-RU" sz="1800" dirty="0">
                          <a:effectLst/>
                        </a:rPr>
                        <a:t>1,</a:t>
                      </a:r>
                      <a:r>
                        <a:rPr lang="en-US" sz="1800" dirty="0">
                          <a:effectLst/>
                        </a:rPr>
                        <a:t>5998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3" marR="68543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822313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  <a:buNone/>
                      </a:pPr>
                      <a:r>
                        <a:rPr lang="ru-RU" sz="1800" dirty="0">
                          <a:effectLst/>
                        </a:rPr>
                        <a:t>12. Годовой экономический эффект, руб.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3" marR="68543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ru-RU" sz="1800" dirty="0">
                          <a:effectLst/>
                        </a:rPr>
                        <a:t>3250,</a:t>
                      </a:r>
                      <a:r>
                        <a:rPr lang="en-US" sz="1800" dirty="0">
                          <a:effectLst/>
                        </a:rPr>
                        <a:t>4</a:t>
                      </a:r>
                      <a:r>
                        <a:rPr lang="ru-RU" sz="1800" dirty="0">
                          <a:effectLst/>
                        </a:rPr>
                        <a:t>9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3" marR="68543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876091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  <a:buNone/>
                      </a:pPr>
                      <a:r>
                        <a:rPr lang="ru-RU" sz="1800" dirty="0">
                          <a:effectLst/>
                        </a:rPr>
                        <a:t>13. Групповой показатель конкурентоспособности ПП по техническим параметрам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3" marR="68543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ru-RU" sz="1800" dirty="0">
                          <a:effectLst/>
                        </a:rPr>
                        <a:t>3,16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3" marR="68543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70698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  <a:buNone/>
                      </a:pPr>
                      <a:r>
                        <a:rPr lang="ru-RU" sz="1800" dirty="0">
                          <a:effectLst/>
                        </a:rPr>
                        <a:t>14. Групповой коэффициент конкурентоспособности ПП по экономическим параметрам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3" marR="68543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ru-RU" sz="1800" dirty="0">
                          <a:effectLst/>
                        </a:rPr>
                        <a:t>0,61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3" marR="68543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685092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  <a:buNone/>
                      </a:pPr>
                      <a:r>
                        <a:rPr lang="ru-RU" sz="1800" dirty="0">
                          <a:effectLst/>
                        </a:rPr>
                        <a:t>15. Комплексный (интегральный) показатель конкурентоспособности ПП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3" marR="68543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ru-RU" sz="1800" dirty="0">
                          <a:effectLst/>
                        </a:rPr>
                        <a:t>5,18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3" marR="68543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626103"/>
                  </a:ext>
                </a:extLst>
              </a:tr>
            </a:tbl>
          </a:graphicData>
        </a:graphic>
      </p:graphicFrame>
      <p:sp>
        <p:nvSpPr>
          <p:cNvPr id="5" name="Text 0">
            <a:extLst>
              <a:ext uri="{FF2B5EF4-FFF2-40B4-BE49-F238E27FC236}">
                <a16:creationId xmlns:a16="http://schemas.microsoft.com/office/drawing/2014/main" id="{20455ADA-9C2E-456B-5968-716861301579}"/>
              </a:ext>
            </a:extLst>
          </p:cNvPr>
          <p:cNvSpPr/>
          <p:nvPr/>
        </p:nvSpPr>
        <p:spPr>
          <a:xfrm>
            <a:off x="1085850" y="402466"/>
            <a:ext cx="12458700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Технико-экономические показатели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29441923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179671"/>
            <a:ext cx="7374969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Преимущества</a:t>
            </a: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решения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2662833"/>
            <a:ext cx="4190762" cy="25900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309" y="5523667"/>
            <a:ext cx="291024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Экономия</a:t>
            </a: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endParaRPr lang="ru-RU" sz="3200" b="1" dirty="0">
              <a:solidFill>
                <a:srgbClr val="384653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времени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58309" y="6346982"/>
            <a:ext cx="4190762" cy="702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Сокращение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ru-RU" sz="2400" dirty="0">
              <a:solidFill>
                <a:srgbClr val="384653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0" indent="0" algn="l">
              <a:lnSpc>
                <a:spcPts val="2700"/>
              </a:lnSpc>
              <a:buNone/>
            </a:pP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рутинных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операций</a:t>
            </a:r>
            <a:endParaRPr lang="en-US" sz="2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9819" y="2662833"/>
            <a:ext cx="4190762" cy="25900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19819" y="5523667"/>
            <a:ext cx="403967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Локальное</a:t>
            </a:r>
            <a:endParaRPr lang="ru-RU" sz="3200" b="1" dirty="0">
              <a:solidFill>
                <a:srgbClr val="384653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развертывание</a:t>
            </a:r>
            <a:endParaRPr lang="en-US" sz="3200" dirty="0"/>
          </a:p>
        </p:txBody>
      </p:sp>
      <p:sp>
        <p:nvSpPr>
          <p:cNvPr id="8" name="Text 4"/>
          <p:cNvSpPr/>
          <p:nvPr/>
        </p:nvSpPr>
        <p:spPr>
          <a:xfrm>
            <a:off x="5219819" y="6356509"/>
            <a:ext cx="419076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Независимость от внешних сервисов</a:t>
            </a:r>
            <a:endParaRPr lang="en-US" sz="2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1329" y="2662833"/>
            <a:ext cx="4190762" cy="259008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81329" y="5523667"/>
            <a:ext cx="4190762" cy="48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Повышение эффективности</a:t>
            </a:r>
            <a:endParaRPr lang="en-US" sz="3200" dirty="0"/>
          </a:p>
        </p:txBody>
      </p:sp>
      <p:sp>
        <p:nvSpPr>
          <p:cNvPr id="11" name="Text 6"/>
          <p:cNvSpPr/>
          <p:nvPr/>
        </p:nvSpPr>
        <p:spPr>
          <a:xfrm>
            <a:off x="9681329" y="6356508"/>
            <a:ext cx="4190762" cy="693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Минимизация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ru-RU" sz="2400" dirty="0">
              <a:solidFill>
                <a:srgbClr val="384653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0" indent="0" algn="l">
              <a:lnSpc>
                <a:spcPts val="2700"/>
              </a:lnSpc>
              <a:buNone/>
            </a:pP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ошибок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учете</a:t>
            </a:r>
            <a:endParaRPr lang="en-US" sz="2400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48C373F-13EC-E30D-77FE-6C8059EB637E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13F9F6-8A51-2CB9-DF12-8840B567AA63}"/>
              </a:ext>
            </a:extLst>
          </p:cNvPr>
          <p:cNvSpPr txBox="1"/>
          <p:nvPr/>
        </p:nvSpPr>
        <p:spPr>
          <a:xfrm>
            <a:off x="758309" y="1828706"/>
            <a:ext cx="11071018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Реализованное приложение дает следующие преимущества:</a:t>
            </a:r>
            <a:endParaRPr lang="en-US" sz="2400" dirty="0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D3F47D8A-925D-2787-E045-3147E9F45205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17</a:t>
            </a:r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1016</TotalTime>
  <Words>404</Words>
  <Application>Microsoft Office PowerPoint</Application>
  <PresentationFormat>Произвольный</PresentationFormat>
  <Paragraphs>135</Paragraphs>
  <Slides>17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3" baseType="lpstr">
      <vt:lpstr>Barlow Bold</vt:lpstr>
      <vt:lpstr>Arial</vt:lpstr>
      <vt:lpstr>Times New Roman</vt:lpstr>
      <vt:lpstr>Montserrat</vt:lpstr>
      <vt:lpstr>Aptos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Maxim Vysotsky</cp:lastModifiedBy>
  <cp:revision>13</cp:revision>
  <dcterms:created xsi:type="dcterms:W3CDTF">2025-05-11T21:36:33Z</dcterms:created>
  <dcterms:modified xsi:type="dcterms:W3CDTF">2025-05-20T09:27:48Z</dcterms:modified>
</cp:coreProperties>
</file>